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477" r:id="rId2"/>
    <p:sldId id="604" r:id="rId3"/>
    <p:sldId id="614" r:id="rId4"/>
    <p:sldId id="608" r:id="rId5"/>
    <p:sldId id="609" r:id="rId6"/>
    <p:sldId id="605" r:id="rId7"/>
    <p:sldId id="607" r:id="rId8"/>
    <p:sldId id="59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82"/>
    <p:restoredTop sz="94675"/>
  </p:normalViewPr>
  <p:slideViewPr>
    <p:cSldViewPr snapToGrid="0" snapToObjects="1">
      <p:cViewPr varScale="1">
        <p:scale>
          <a:sx n="107" d="100"/>
          <a:sy n="107" d="100"/>
        </p:scale>
        <p:origin x="608"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C69D77-E953-F64E-B1C1-A2271342F9B8}" type="datetimeFigureOut">
              <a:rPr lang="en-US" smtClean="0"/>
              <a:t>9/22/25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C4C638-DC6E-E946-A22D-4969B22EA37B}" type="slidenum">
              <a:rPr lang="en-US" smtClean="0"/>
              <a:t>‹#›</a:t>
            </a:fld>
            <a:endParaRPr lang="en-US"/>
          </a:p>
        </p:txBody>
      </p:sp>
    </p:spTree>
    <p:extLst>
      <p:ext uri="{BB962C8B-B14F-4D97-AF65-F5344CB8AC3E}">
        <p14:creationId xmlns:p14="http://schemas.microsoft.com/office/powerpoint/2010/main" val="2881910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999D9-1DDC-BB45-A50C-17DD98E791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9E63A50-8456-8247-8F1B-D2ADBC211F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54159A-91F0-C14C-AA30-885D3F12BCDF}"/>
              </a:ext>
            </a:extLst>
          </p:cNvPr>
          <p:cNvSpPr>
            <a:spLocks noGrp="1"/>
          </p:cNvSpPr>
          <p:nvPr>
            <p:ph type="dt" sz="half" idx="10"/>
          </p:nvPr>
        </p:nvSpPr>
        <p:spPr/>
        <p:txBody>
          <a:bodyPr/>
          <a:lstStyle/>
          <a:p>
            <a:fld id="{A495D127-D6C0-7F4C-928F-048A1DB2F761}" type="datetimeFigureOut">
              <a:rPr lang="en-US" smtClean="0"/>
              <a:t>9/22/25</a:t>
            </a:fld>
            <a:endParaRPr lang="en-US"/>
          </a:p>
        </p:txBody>
      </p:sp>
      <p:sp>
        <p:nvSpPr>
          <p:cNvPr id="5" name="Footer Placeholder 4">
            <a:extLst>
              <a:ext uri="{FF2B5EF4-FFF2-40B4-BE49-F238E27FC236}">
                <a16:creationId xmlns:a16="http://schemas.microsoft.com/office/drawing/2014/main" id="{92240CDF-7B32-B947-864E-E6F9F350C7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0D0388-F90F-F943-95FE-DECB3D867507}"/>
              </a:ext>
            </a:extLst>
          </p:cNvPr>
          <p:cNvSpPr>
            <a:spLocks noGrp="1"/>
          </p:cNvSpPr>
          <p:nvPr>
            <p:ph type="sldNum" sz="quarter" idx="12"/>
          </p:nvPr>
        </p:nvSpPr>
        <p:spPr/>
        <p:txBody>
          <a:bodyPr/>
          <a:lstStyle/>
          <a:p>
            <a:fld id="{F28C0A36-09F1-DB41-9440-BFBE2603C6F3}" type="slidenum">
              <a:rPr lang="en-US" smtClean="0"/>
              <a:t>‹#›</a:t>
            </a:fld>
            <a:endParaRPr lang="en-US"/>
          </a:p>
        </p:txBody>
      </p:sp>
    </p:spTree>
    <p:extLst>
      <p:ext uri="{BB962C8B-B14F-4D97-AF65-F5344CB8AC3E}">
        <p14:creationId xmlns:p14="http://schemas.microsoft.com/office/powerpoint/2010/main" val="3396140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FCE66-6F51-B445-8B6E-B533AAA387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2D7EC7-9FAB-7E41-8B1B-2297ED496B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835DEA-DD25-5842-A565-0AB21A085EE0}"/>
              </a:ext>
            </a:extLst>
          </p:cNvPr>
          <p:cNvSpPr>
            <a:spLocks noGrp="1"/>
          </p:cNvSpPr>
          <p:nvPr>
            <p:ph type="dt" sz="half" idx="10"/>
          </p:nvPr>
        </p:nvSpPr>
        <p:spPr/>
        <p:txBody>
          <a:bodyPr/>
          <a:lstStyle/>
          <a:p>
            <a:fld id="{A495D127-D6C0-7F4C-928F-048A1DB2F761}" type="datetimeFigureOut">
              <a:rPr lang="en-US" smtClean="0"/>
              <a:t>9/22/25</a:t>
            </a:fld>
            <a:endParaRPr lang="en-US"/>
          </a:p>
        </p:txBody>
      </p:sp>
      <p:sp>
        <p:nvSpPr>
          <p:cNvPr id="5" name="Footer Placeholder 4">
            <a:extLst>
              <a:ext uri="{FF2B5EF4-FFF2-40B4-BE49-F238E27FC236}">
                <a16:creationId xmlns:a16="http://schemas.microsoft.com/office/drawing/2014/main" id="{503EAF29-1634-5946-87A2-D8AB95DE55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1926C9-C4D4-204C-BAA5-5136E3CEF7F6}"/>
              </a:ext>
            </a:extLst>
          </p:cNvPr>
          <p:cNvSpPr>
            <a:spLocks noGrp="1"/>
          </p:cNvSpPr>
          <p:nvPr>
            <p:ph type="sldNum" sz="quarter" idx="12"/>
          </p:nvPr>
        </p:nvSpPr>
        <p:spPr/>
        <p:txBody>
          <a:bodyPr/>
          <a:lstStyle/>
          <a:p>
            <a:fld id="{F28C0A36-09F1-DB41-9440-BFBE2603C6F3}" type="slidenum">
              <a:rPr lang="en-US" smtClean="0"/>
              <a:t>‹#›</a:t>
            </a:fld>
            <a:endParaRPr lang="en-US"/>
          </a:p>
        </p:txBody>
      </p:sp>
    </p:spTree>
    <p:extLst>
      <p:ext uri="{BB962C8B-B14F-4D97-AF65-F5344CB8AC3E}">
        <p14:creationId xmlns:p14="http://schemas.microsoft.com/office/powerpoint/2010/main" val="3989129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48F23-FE62-3940-95C1-3F202FF0F2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5EDA9AC-2D42-0543-BBB3-3638F16F98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C6DD38-0754-C047-9E27-A07D6CA5299A}"/>
              </a:ext>
            </a:extLst>
          </p:cNvPr>
          <p:cNvSpPr>
            <a:spLocks noGrp="1"/>
          </p:cNvSpPr>
          <p:nvPr>
            <p:ph type="dt" sz="half" idx="10"/>
          </p:nvPr>
        </p:nvSpPr>
        <p:spPr/>
        <p:txBody>
          <a:bodyPr/>
          <a:lstStyle/>
          <a:p>
            <a:fld id="{A495D127-D6C0-7F4C-928F-048A1DB2F761}" type="datetimeFigureOut">
              <a:rPr lang="en-US" smtClean="0"/>
              <a:t>9/22/25</a:t>
            </a:fld>
            <a:endParaRPr lang="en-US"/>
          </a:p>
        </p:txBody>
      </p:sp>
      <p:sp>
        <p:nvSpPr>
          <p:cNvPr id="5" name="Footer Placeholder 4">
            <a:extLst>
              <a:ext uri="{FF2B5EF4-FFF2-40B4-BE49-F238E27FC236}">
                <a16:creationId xmlns:a16="http://schemas.microsoft.com/office/drawing/2014/main" id="{5BF7C112-0475-3D42-B6FA-8208B25BBE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72C7BB-446F-D943-B2FE-CC6995FD7E9E}"/>
              </a:ext>
            </a:extLst>
          </p:cNvPr>
          <p:cNvSpPr>
            <a:spLocks noGrp="1"/>
          </p:cNvSpPr>
          <p:nvPr>
            <p:ph type="sldNum" sz="quarter" idx="12"/>
          </p:nvPr>
        </p:nvSpPr>
        <p:spPr/>
        <p:txBody>
          <a:bodyPr/>
          <a:lstStyle/>
          <a:p>
            <a:fld id="{F28C0A36-09F1-DB41-9440-BFBE2603C6F3}" type="slidenum">
              <a:rPr lang="en-US" smtClean="0"/>
              <a:t>‹#›</a:t>
            </a:fld>
            <a:endParaRPr lang="en-US"/>
          </a:p>
        </p:txBody>
      </p:sp>
    </p:spTree>
    <p:extLst>
      <p:ext uri="{BB962C8B-B14F-4D97-AF65-F5344CB8AC3E}">
        <p14:creationId xmlns:p14="http://schemas.microsoft.com/office/powerpoint/2010/main" val="1328489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86F0C-9C25-EF41-AB94-112286EA93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B91654-FA2E-F344-9968-7E490CAE26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A3A2C5D-5847-434F-86B2-3A1A6BB670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C1EC74F-431B-124C-A9DF-9C24A1886621}"/>
              </a:ext>
            </a:extLst>
          </p:cNvPr>
          <p:cNvSpPr>
            <a:spLocks noGrp="1"/>
          </p:cNvSpPr>
          <p:nvPr>
            <p:ph type="dt" sz="half" idx="10"/>
          </p:nvPr>
        </p:nvSpPr>
        <p:spPr/>
        <p:txBody>
          <a:bodyPr/>
          <a:lstStyle/>
          <a:p>
            <a:fld id="{A495D127-D6C0-7F4C-928F-048A1DB2F761}" type="datetimeFigureOut">
              <a:rPr lang="en-US" smtClean="0"/>
              <a:t>9/22/25</a:t>
            </a:fld>
            <a:endParaRPr lang="en-US"/>
          </a:p>
        </p:txBody>
      </p:sp>
      <p:sp>
        <p:nvSpPr>
          <p:cNvPr id="6" name="Footer Placeholder 5">
            <a:extLst>
              <a:ext uri="{FF2B5EF4-FFF2-40B4-BE49-F238E27FC236}">
                <a16:creationId xmlns:a16="http://schemas.microsoft.com/office/drawing/2014/main" id="{AFF5391D-3F98-0448-932C-4E1F17A8C9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8EF126-2ACB-E443-B9C9-F011CB29A858}"/>
              </a:ext>
            </a:extLst>
          </p:cNvPr>
          <p:cNvSpPr>
            <a:spLocks noGrp="1"/>
          </p:cNvSpPr>
          <p:nvPr>
            <p:ph type="sldNum" sz="quarter" idx="12"/>
          </p:nvPr>
        </p:nvSpPr>
        <p:spPr/>
        <p:txBody>
          <a:bodyPr/>
          <a:lstStyle/>
          <a:p>
            <a:fld id="{F28C0A36-09F1-DB41-9440-BFBE2603C6F3}" type="slidenum">
              <a:rPr lang="en-US" smtClean="0"/>
              <a:t>‹#›</a:t>
            </a:fld>
            <a:endParaRPr lang="en-US"/>
          </a:p>
        </p:txBody>
      </p:sp>
    </p:spTree>
    <p:extLst>
      <p:ext uri="{BB962C8B-B14F-4D97-AF65-F5344CB8AC3E}">
        <p14:creationId xmlns:p14="http://schemas.microsoft.com/office/powerpoint/2010/main" val="2079389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462A5-8570-8D42-9B33-2857692CCDF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7519C2-2940-9441-AD4B-1B8CF7B617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BDE565-B4C3-274A-A949-BC3E836F5B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0A39605-4B35-5A48-ABF7-75590E9DBC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B482E6-B6E6-854D-95CC-7941E427C7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8E335C-049C-564C-A221-0DF860323463}"/>
              </a:ext>
            </a:extLst>
          </p:cNvPr>
          <p:cNvSpPr>
            <a:spLocks noGrp="1"/>
          </p:cNvSpPr>
          <p:nvPr>
            <p:ph type="dt" sz="half" idx="10"/>
          </p:nvPr>
        </p:nvSpPr>
        <p:spPr/>
        <p:txBody>
          <a:bodyPr/>
          <a:lstStyle/>
          <a:p>
            <a:fld id="{A495D127-D6C0-7F4C-928F-048A1DB2F761}" type="datetimeFigureOut">
              <a:rPr lang="en-US" smtClean="0"/>
              <a:t>9/22/25</a:t>
            </a:fld>
            <a:endParaRPr lang="en-US"/>
          </a:p>
        </p:txBody>
      </p:sp>
      <p:sp>
        <p:nvSpPr>
          <p:cNvPr id="8" name="Footer Placeholder 7">
            <a:extLst>
              <a:ext uri="{FF2B5EF4-FFF2-40B4-BE49-F238E27FC236}">
                <a16:creationId xmlns:a16="http://schemas.microsoft.com/office/drawing/2014/main" id="{B3C7BC8B-B280-4146-90E5-5171D715D28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FA2582-A6A1-384A-A9E9-0F587A871978}"/>
              </a:ext>
            </a:extLst>
          </p:cNvPr>
          <p:cNvSpPr>
            <a:spLocks noGrp="1"/>
          </p:cNvSpPr>
          <p:nvPr>
            <p:ph type="sldNum" sz="quarter" idx="12"/>
          </p:nvPr>
        </p:nvSpPr>
        <p:spPr/>
        <p:txBody>
          <a:bodyPr/>
          <a:lstStyle/>
          <a:p>
            <a:fld id="{F28C0A36-09F1-DB41-9440-BFBE2603C6F3}" type="slidenum">
              <a:rPr lang="en-US" smtClean="0"/>
              <a:t>‹#›</a:t>
            </a:fld>
            <a:endParaRPr lang="en-US"/>
          </a:p>
        </p:txBody>
      </p:sp>
    </p:spTree>
    <p:extLst>
      <p:ext uri="{BB962C8B-B14F-4D97-AF65-F5344CB8AC3E}">
        <p14:creationId xmlns:p14="http://schemas.microsoft.com/office/powerpoint/2010/main" val="3545770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49B28-8B4C-4746-8392-D512BBEF475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BFE2B06-B237-7146-8E42-611A8EE5D8B6}"/>
              </a:ext>
            </a:extLst>
          </p:cNvPr>
          <p:cNvSpPr>
            <a:spLocks noGrp="1"/>
          </p:cNvSpPr>
          <p:nvPr>
            <p:ph type="dt" sz="half" idx="10"/>
          </p:nvPr>
        </p:nvSpPr>
        <p:spPr/>
        <p:txBody>
          <a:bodyPr/>
          <a:lstStyle/>
          <a:p>
            <a:fld id="{A495D127-D6C0-7F4C-928F-048A1DB2F761}" type="datetimeFigureOut">
              <a:rPr lang="en-US" smtClean="0"/>
              <a:t>9/22/25</a:t>
            </a:fld>
            <a:endParaRPr lang="en-US"/>
          </a:p>
        </p:txBody>
      </p:sp>
      <p:sp>
        <p:nvSpPr>
          <p:cNvPr id="4" name="Footer Placeholder 3">
            <a:extLst>
              <a:ext uri="{FF2B5EF4-FFF2-40B4-BE49-F238E27FC236}">
                <a16:creationId xmlns:a16="http://schemas.microsoft.com/office/drawing/2014/main" id="{31405EAF-264F-5544-B95B-A9BA3AA902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00D249-4822-2E45-BA39-8C51FFDF0156}"/>
              </a:ext>
            </a:extLst>
          </p:cNvPr>
          <p:cNvSpPr>
            <a:spLocks noGrp="1"/>
          </p:cNvSpPr>
          <p:nvPr>
            <p:ph type="sldNum" sz="quarter" idx="12"/>
          </p:nvPr>
        </p:nvSpPr>
        <p:spPr/>
        <p:txBody>
          <a:bodyPr/>
          <a:lstStyle/>
          <a:p>
            <a:fld id="{F28C0A36-09F1-DB41-9440-BFBE2603C6F3}" type="slidenum">
              <a:rPr lang="en-US" smtClean="0"/>
              <a:t>‹#›</a:t>
            </a:fld>
            <a:endParaRPr lang="en-US"/>
          </a:p>
        </p:txBody>
      </p:sp>
    </p:spTree>
    <p:extLst>
      <p:ext uri="{BB962C8B-B14F-4D97-AF65-F5344CB8AC3E}">
        <p14:creationId xmlns:p14="http://schemas.microsoft.com/office/powerpoint/2010/main" val="1996489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CBE0AA-23A6-6941-ABB6-172A95114921}"/>
              </a:ext>
            </a:extLst>
          </p:cNvPr>
          <p:cNvSpPr>
            <a:spLocks noGrp="1"/>
          </p:cNvSpPr>
          <p:nvPr>
            <p:ph type="dt" sz="half" idx="10"/>
          </p:nvPr>
        </p:nvSpPr>
        <p:spPr/>
        <p:txBody>
          <a:bodyPr/>
          <a:lstStyle/>
          <a:p>
            <a:fld id="{A495D127-D6C0-7F4C-928F-048A1DB2F761}" type="datetimeFigureOut">
              <a:rPr lang="en-US" smtClean="0"/>
              <a:t>9/22/25</a:t>
            </a:fld>
            <a:endParaRPr lang="en-US"/>
          </a:p>
        </p:txBody>
      </p:sp>
      <p:sp>
        <p:nvSpPr>
          <p:cNvPr id="3" name="Footer Placeholder 2">
            <a:extLst>
              <a:ext uri="{FF2B5EF4-FFF2-40B4-BE49-F238E27FC236}">
                <a16:creationId xmlns:a16="http://schemas.microsoft.com/office/drawing/2014/main" id="{2B53B151-8B05-394B-A348-09364EC509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A8CA6FE-3B6C-DC45-BF76-D99CCA36E51F}"/>
              </a:ext>
            </a:extLst>
          </p:cNvPr>
          <p:cNvSpPr>
            <a:spLocks noGrp="1"/>
          </p:cNvSpPr>
          <p:nvPr>
            <p:ph type="sldNum" sz="quarter" idx="12"/>
          </p:nvPr>
        </p:nvSpPr>
        <p:spPr/>
        <p:txBody>
          <a:bodyPr/>
          <a:lstStyle/>
          <a:p>
            <a:fld id="{F28C0A36-09F1-DB41-9440-BFBE2603C6F3}" type="slidenum">
              <a:rPr lang="en-US" smtClean="0"/>
              <a:t>‹#›</a:t>
            </a:fld>
            <a:endParaRPr lang="en-US"/>
          </a:p>
        </p:txBody>
      </p:sp>
    </p:spTree>
    <p:extLst>
      <p:ext uri="{BB962C8B-B14F-4D97-AF65-F5344CB8AC3E}">
        <p14:creationId xmlns:p14="http://schemas.microsoft.com/office/powerpoint/2010/main" val="1071885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028DB-7073-8647-BD82-46724957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5219BC-2007-8A4F-95AE-18E8723887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9176F01-512E-A444-8492-5EBDEE663A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02489F-4AA9-D74A-892A-5CB8AB399724}"/>
              </a:ext>
            </a:extLst>
          </p:cNvPr>
          <p:cNvSpPr>
            <a:spLocks noGrp="1"/>
          </p:cNvSpPr>
          <p:nvPr>
            <p:ph type="dt" sz="half" idx="10"/>
          </p:nvPr>
        </p:nvSpPr>
        <p:spPr/>
        <p:txBody>
          <a:bodyPr/>
          <a:lstStyle/>
          <a:p>
            <a:fld id="{A495D127-D6C0-7F4C-928F-048A1DB2F761}" type="datetimeFigureOut">
              <a:rPr lang="en-US" smtClean="0"/>
              <a:t>9/22/25</a:t>
            </a:fld>
            <a:endParaRPr lang="en-US"/>
          </a:p>
        </p:txBody>
      </p:sp>
      <p:sp>
        <p:nvSpPr>
          <p:cNvPr id="6" name="Footer Placeholder 5">
            <a:extLst>
              <a:ext uri="{FF2B5EF4-FFF2-40B4-BE49-F238E27FC236}">
                <a16:creationId xmlns:a16="http://schemas.microsoft.com/office/drawing/2014/main" id="{53748FFA-C9AF-2A45-8B9F-D49FBFEEFA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E986D9-44FF-B841-87A9-7D93FE215BB4}"/>
              </a:ext>
            </a:extLst>
          </p:cNvPr>
          <p:cNvSpPr>
            <a:spLocks noGrp="1"/>
          </p:cNvSpPr>
          <p:nvPr>
            <p:ph type="sldNum" sz="quarter" idx="12"/>
          </p:nvPr>
        </p:nvSpPr>
        <p:spPr/>
        <p:txBody>
          <a:bodyPr/>
          <a:lstStyle/>
          <a:p>
            <a:fld id="{F28C0A36-09F1-DB41-9440-BFBE2603C6F3}" type="slidenum">
              <a:rPr lang="en-US" smtClean="0"/>
              <a:t>‹#›</a:t>
            </a:fld>
            <a:endParaRPr lang="en-US"/>
          </a:p>
        </p:txBody>
      </p:sp>
    </p:spTree>
    <p:extLst>
      <p:ext uri="{BB962C8B-B14F-4D97-AF65-F5344CB8AC3E}">
        <p14:creationId xmlns:p14="http://schemas.microsoft.com/office/powerpoint/2010/main" val="410162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E0F23-E137-0347-8335-F07190A797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682871-A0FA-184E-A246-ACC8CCFC1B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0D7D0B-BAD4-3743-9E6A-F9F6FE388C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7A1000-2AB0-A244-AD8A-122851D389D2}"/>
              </a:ext>
            </a:extLst>
          </p:cNvPr>
          <p:cNvSpPr>
            <a:spLocks noGrp="1"/>
          </p:cNvSpPr>
          <p:nvPr>
            <p:ph type="dt" sz="half" idx="10"/>
          </p:nvPr>
        </p:nvSpPr>
        <p:spPr/>
        <p:txBody>
          <a:bodyPr/>
          <a:lstStyle/>
          <a:p>
            <a:fld id="{A495D127-D6C0-7F4C-928F-048A1DB2F761}" type="datetimeFigureOut">
              <a:rPr lang="en-US" smtClean="0"/>
              <a:t>9/22/25</a:t>
            </a:fld>
            <a:endParaRPr lang="en-US"/>
          </a:p>
        </p:txBody>
      </p:sp>
      <p:sp>
        <p:nvSpPr>
          <p:cNvPr id="6" name="Footer Placeholder 5">
            <a:extLst>
              <a:ext uri="{FF2B5EF4-FFF2-40B4-BE49-F238E27FC236}">
                <a16:creationId xmlns:a16="http://schemas.microsoft.com/office/drawing/2014/main" id="{E5FA04E5-58DD-C947-AAAC-8252FDD9A6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C053BF-131F-3048-80E2-A7964E183BFF}"/>
              </a:ext>
            </a:extLst>
          </p:cNvPr>
          <p:cNvSpPr>
            <a:spLocks noGrp="1"/>
          </p:cNvSpPr>
          <p:nvPr>
            <p:ph type="sldNum" sz="quarter" idx="12"/>
          </p:nvPr>
        </p:nvSpPr>
        <p:spPr/>
        <p:txBody>
          <a:bodyPr/>
          <a:lstStyle/>
          <a:p>
            <a:fld id="{F28C0A36-09F1-DB41-9440-BFBE2603C6F3}" type="slidenum">
              <a:rPr lang="en-US" smtClean="0"/>
              <a:t>‹#›</a:t>
            </a:fld>
            <a:endParaRPr lang="en-US"/>
          </a:p>
        </p:txBody>
      </p:sp>
    </p:spTree>
    <p:extLst>
      <p:ext uri="{BB962C8B-B14F-4D97-AF65-F5344CB8AC3E}">
        <p14:creationId xmlns:p14="http://schemas.microsoft.com/office/powerpoint/2010/main" val="222976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A492C-E225-D643-8291-24A478B019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13F598-2E0B-934D-A1ED-E99B97EF57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7E651B-C657-CD4F-9711-B5287A086130}"/>
              </a:ext>
            </a:extLst>
          </p:cNvPr>
          <p:cNvSpPr>
            <a:spLocks noGrp="1"/>
          </p:cNvSpPr>
          <p:nvPr>
            <p:ph type="dt" sz="half" idx="10"/>
          </p:nvPr>
        </p:nvSpPr>
        <p:spPr/>
        <p:txBody>
          <a:bodyPr/>
          <a:lstStyle/>
          <a:p>
            <a:fld id="{A495D127-D6C0-7F4C-928F-048A1DB2F761}" type="datetimeFigureOut">
              <a:rPr lang="en-US" smtClean="0"/>
              <a:t>9/22/25</a:t>
            </a:fld>
            <a:endParaRPr lang="en-US"/>
          </a:p>
        </p:txBody>
      </p:sp>
      <p:sp>
        <p:nvSpPr>
          <p:cNvPr id="5" name="Footer Placeholder 4">
            <a:extLst>
              <a:ext uri="{FF2B5EF4-FFF2-40B4-BE49-F238E27FC236}">
                <a16:creationId xmlns:a16="http://schemas.microsoft.com/office/drawing/2014/main" id="{4BDED1A1-A865-8040-ADC3-C14D0F4B6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6A8EBA-D787-8D4A-8653-C3AC622CC453}"/>
              </a:ext>
            </a:extLst>
          </p:cNvPr>
          <p:cNvSpPr>
            <a:spLocks noGrp="1"/>
          </p:cNvSpPr>
          <p:nvPr>
            <p:ph type="sldNum" sz="quarter" idx="12"/>
          </p:nvPr>
        </p:nvSpPr>
        <p:spPr/>
        <p:txBody>
          <a:bodyPr/>
          <a:lstStyle/>
          <a:p>
            <a:fld id="{F28C0A36-09F1-DB41-9440-BFBE2603C6F3}" type="slidenum">
              <a:rPr lang="en-US" smtClean="0"/>
              <a:t>‹#›</a:t>
            </a:fld>
            <a:endParaRPr lang="en-US"/>
          </a:p>
        </p:txBody>
      </p:sp>
    </p:spTree>
    <p:extLst>
      <p:ext uri="{BB962C8B-B14F-4D97-AF65-F5344CB8AC3E}">
        <p14:creationId xmlns:p14="http://schemas.microsoft.com/office/powerpoint/2010/main" val="2833882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BFF14A-94E0-9940-9A4C-736D79CF68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7461A9B-29D0-7B4E-A22B-B367004B1B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C791D7-7BF2-0547-91C0-0622BE8E6FB9}"/>
              </a:ext>
            </a:extLst>
          </p:cNvPr>
          <p:cNvSpPr>
            <a:spLocks noGrp="1"/>
          </p:cNvSpPr>
          <p:nvPr>
            <p:ph type="dt" sz="half" idx="10"/>
          </p:nvPr>
        </p:nvSpPr>
        <p:spPr/>
        <p:txBody>
          <a:bodyPr/>
          <a:lstStyle/>
          <a:p>
            <a:fld id="{A495D127-D6C0-7F4C-928F-048A1DB2F761}" type="datetimeFigureOut">
              <a:rPr lang="en-US" smtClean="0"/>
              <a:t>9/22/25</a:t>
            </a:fld>
            <a:endParaRPr lang="en-US"/>
          </a:p>
        </p:txBody>
      </p:sp>
      <p:sp>
        <p:nvSpPr>
          <p:cNvPr id="5" name="Footer Placeholder 4">
            <a:extLst>
              <a:ext uri="{FF2B5EF4-FFF2-40B4-BE49-F238E27FC236}">
                <a16:creationId xmlns:a16="http://schemas.microsoft.com/office/drawing/2014/main" id="{85290676-8313-4741-B979-9AA835E62A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AE490B-DBB9-2A47-BF2D-0B3D8C75BB01}"/>
              </a:ext>
            </a:extLst>
          </p:cNvPr>
          <p:cNvSpPr>
            <a:spLocks noGrp="1"/>
          </p:cNvSpPr>
          <p:nvPr>
            <p:ph type="sldNum" sz="quarter" idx="12"/>
          </p:nvPr>
        </p:nvSpPr>
        <p:spPr/>
        <p:txBody>
          <a:bodyPr/>
          <a:lstStyle/>
          <a:p>
            <a:fld id="{F28C0A36-09F1-DB41-9440-BFBE2603C6F3}" type="slidenum">
              <a:rPr lang="en-US" smtClean="0"/>
              <a:t>‹#›</a:t>
            </a:fld>
            <a:endParaRPr lang="en-US"/>
          </a:p>
        </p:txBody>
      </p:sp>
    </p:spTree>
    <p:extLst>
      <p:ext uri="{BB962C8B-B14F-4D97-AF65-F5344CB8AC3E}">
        <p14:creationId xmlns:p14="http://schemas.microsoft.com/office/powerpoint/2010/main" val="4222360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57CD6E-27D6-AA4A-96AE-677D837918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91D76D-C32D-D64C-9C2C-65CF5EF282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168D39-8D42-664E-A9CB-3102E69F5A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95D127-D6C0-7F4C-928F-048A1DB2F761}" type="datetimeFigureOut">
              <a:rPr lang="en-US" smtClean="0"/>
              <a:t>9/22/25</a:t>
            </a:fld>
            <a:endParaRPr lang="en-US"/>
          </a:p>
        </p:txBody>
      </p:sp>
      <p:sp>
        <p:nvSpPr>
          <p:cNvPr id="5" name="Footer Placeholder 4">
            <a:extLst>
              <a:ext uri="{FF2B5EF4-FFF2-40B4-BE49-F238E27FC236}">
                <a16:creationId xmlns:a16="http://schemas.microsoft.com/office/drawing/2014/main" id="{3EC03292-4072-9D4A-B51C-5E81E32ECD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B4E5363-C86D-7246-B29E-8E35B2FC25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8C0A36-09F1-DB41-9440-BFBE2603C6F3}" type="slidenum">
              <a:rPr lang="en-US" smtClean="0"/>
              <a:t>‹#›</a:t>
            </a:fld>
            <a:endParaRPr lang="en-US"/>
          </a:p>
        </p:txBody>
      </p:sp>
    </p:spTree>
    <p:extLst>
      <p:ext uri="{BB962C8B-B14F-4D97-AF65-F5344CB8AC3E}">
        <p14:creationId xmlns:p14="http://schemas.microsoft.com/office/powerpoint/2010/main" val="2227270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docs.python.org/3/library/stdtypes.html#string-method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users.csc.calpoly.edu/~jdalbey/SWE/pdl_std.html" TargetMode="External"/><Relationship Id="rId7" Type="http://schemas.openxmlformats.org/officeDocument/2006/relationships/hyperlink" Target="https://www.atlassian.com/git/tutorials/using-branches/merge-conflicts" TargetMode="External"/><Relationship Id="rId2" Type="http://schemas.openxmlformats.org/officeDocument/2006/relationships/hyperlink" Target="https://www.unf.edu/~broggio/cop2221/2221pseu.htm" TargetMode="External"/><Relationship Id="rId1" Type="http://schemas.openxmlformats.org/officeDocument/2006/relationships/slideLayout" Target="../slideLayouts/slideLayout2.xml"/><Relationship Id="rId6" Type="http://schemas.openxmlformats.org/officeDocument/2006/relationships/hyperlink" Target="https://www.tutorialspoint.com/git/index.htm" TargetMode="External"/><Relationship Id="rId5" Type="http://schemas.openxmlformats.org/officeDocument/2006/relationships/hyperlink" Target="https://try.github.io/" TargetMode="External"/><Relationship Id="rId4" Type="http://schemas.openxmlformats.org/officeDocument/2006/relationships/hyperlink" Target="https://git-scm.com/docs/gittutoria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19100" y="1275503"/>
            <a:ext cx="11353800" cy="2308324"/>
          </a:xfrm>
          <a:prstGeom prst="rect">
            <a:avLst/>
          </a:prstGeom>
          <a:noFill/>
        </p:spPr>
        <p:txBody>
          <a:bodyPr wrap="square" rtlCol="0">
            <a:spAutoFit/>
          </a:bodyPr>
          <a:lstStyle/>
          <a:p>
            <a:pPr algn="ctr"/>
            <a:r>
              <a:rPr lang="en-US" sz="3200" b="1" dirty="0">
                <a:latin typeface="Arial" charset="0"/>
                <a:ea typeface="Arial" charset="0"/>
                <a:cs typeface="Arial" charset="0"/>
              </a:rPr>
              <a:t>Pseudocode and Python</a:t>
            </a:r>
          </a:p>
          <a:p>
            <a:pPr algn="ctr"/>
            <a:endParaRPr lang="en-US" sz="2800" b="1" dirty="0">
              <a:latin typeface="Arial" charset="0"/>
              <a:ea typeface="Arial" charset="0"/>
              <a:cs typeface="Arial" charset="0"/>
            </a:endParaRPr>
          </a:p>
          <a:p>
            <a:pPr algn="ctr"/>
            <a:r>
              <a:rPr lang="en-US" sz="2800" b="1" dirty="0">
                <a:latin typeface="Arial" charset="0"/>
                <a:ea typeface="Arial" charset="0"/>
                <a:cs typeface="Arial" charset="0"/>
              </a:rPr>
              <a:t>BIOINF 575</a:t>
            </a:r>
          </a:p>
          <a:p>
            <a:pPr algn="ctr"/>
            <a:endParaRPr lang="en-US" sz="2800" b="1" dirty="0">
              <a:latin typeface="Arial" charset="0"/>
              <a:ea typeface="Arial" charset="0"/>
              <a:cs typeface="Arial" charset="0"/>
            </a:endParaRPr>
          </a:p>
          <a:p>
            <a:pPr algn="ctr"/>
            <a:r>
              <a:rPr lang="en-US" sz="2800" b="1" dirty="0">
                <a:latin typeface="Arial" charset="0"/>
                <a:ea typeface="Arial" charset="0"/>
                <a:cs typeface="Arial" charset="0"/>
              </a:rPr>
              <a:t>Study Session</a:t>
            </a:r>
          </a:p>
        </p:txBody>
      </p:sp>
    </p:spTree>
    <p:extLst>
      <p:ext uri="{BB962C8B-B14F-4D97-AF65-F5344CB8AC3E}">
        <p14:creationId xmlns:p14="http://schemas.microsoft.com/office/powerpoint/2010/main" val="2243602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6DB7CA8-3C7F-BF43-8592-840A5DBA757B}"/>
              </a:ext>
            </a:extLst>
          </p:cNvPr>
          <p:cNvSpPr/>
          <p:nvPr/>
        </p:nvSpPr>
        <p:spPr>
          <a:xfrm>
            <a:off x="419126" y="1068783"/>
            <a:ext cx="11353747" cy="3785652"/>
          </a:xfrm>
          <a:prstGeom prst="rect">
            <a:avLst/>
          </a:prstGeom>
        </p:spPr>
        <p:txBody>
          <a:bodyPr wrap="square">
            <a:spAutoFit/>
          </a:bodyPr>
          <a:lstStyle/>
          <a:p>
            <a:r>
              <a:rPr lang="en-US" sz="2400" b="1" dirty="0">
                <a:latin typeface="Arial" panose="020B0604020202020204" pitchFamily="34" charset="0"/>
                <a:cs typeface="Arial" panose="020B0604020202020204" pitchFamily="34" charset="0"/>
              </a:rPr>
              <a:t>EXERCISE 1.1:</a:t>
            </a:r>
          </a:p>
          <a:p>
            <a:r>
              <a:rPr lang="en-US" sz="2400" b="1" dirty="0">
                <a:latin typeface="Arial" panose="020B0604020202020204" pitchFamily="34" charset="0"/>
                <a:cs typeface="Arial" panose="020B0604020202020204" pitchFamily="34" charset="0"/>
              </a:rPr>
              <a:t>Motif find</a:t>
            </a: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Write pseudocode to find the sequence “AAC” in a given sequence.</a:t>
            </a:r>
          </a:p>
          <a:p>
            <a:pPr marL="457200" indent="-457200">
              <a:buFont typeface="Arial" panose="020B0604020202020204" pitchFamily="34" charset="0"/>
              <a:buChar char="•"/>
            </a:pPr>
            <a:endParaRPr lang="en-US" sz="2400" b="1"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e.g.: sequence = TCGAATACGGGAT, found = FALSE</a:t>
            </a: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e.g.: sequence = AATTGGTCGAACGA, found = TRUE</a:t>
            </a:r>
          </a:p>
          <a:p>
            <a:pPr marL="457200" indent="-457200">
              <a:buFont typeface="Arial" panose="020B0604020202020204" pitchFamily="34" charset="0"/>
              <a:buChar char="•"/>
            </a:pPr>
            <a:endParaRPr lang="en-US" sz="2400" b="1"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Walk through the code to see how the variables change</a:t>
            </a:r>
          </a:p>
          <a:p>
            <a:pPr marL="457200" indent="-457200">
              <a:buFont typeface="Arial" panose="020B0604020202020204" pitchFamily="34" charset="0"/>
              <a:buChar char="•"/>
            </a:pPr>
            <a:endParaRPr lang="en-US" sz="2400" b="1" dirty="0">
              <a:latin typeface="Arial" panose="020B0604020202020204" pitchFamily="34" charset="0"/>
              <a:cs typeface="Arial" panose="020B0604020202020204" pitchFamily="34" charset="0"/>
            </a:endParaRPr>
          </a:p>
          <a:p>
            <a:r>
              <a:rPr lang="en-US" sz="2400" b="1" dirty="0">
                <a:ea typeface="Arial" charset="0"/>
                <a:cs typeface="Arial" charset="0"/>
              </a:rPr>
              <a:t> </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87712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BE25A-C4AB-C53D-B5A0-A31297A6C76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478944D-FCFA-A215-1D88-9B8C7B8EA767}"/>
              </a:ext>
            </a:extLst>
          </p:cNvPr>
          <p:cNvSpPr/>
          <p:nvPr/>
        </p:nvSpPr>
        <p:spPr>
          <a:xfrm>
            <a:off x="419126" y="1068783"/>
            <a:ext cx="11353747" cy="5632311"/>
          </a:xfrm>
          <a:prstGeom prst="rect">
            <a:avLst/>
          </a:prstGeom>
        </p:spPr>
        <p:txBody>
          <a:bodyPr wrap="square">
            <a:spAutoFit/>
          </a:bodyPr>
          <a:lstStyle/>
          <a:p>
            <a:r>
              <a:rPr lang="en-US" sz="2400" b="1" dirty="0">
                <a:latin typeface="Arial" panose="020B0604020202020204" pitchFamily="34" charset="0"/>
                <a:cs typeface="Arial" panose="020B0604020202020204" pitchFamily="34" charset="0"/>
              </a:rPr>
              <a:t>EXERCISE 1.2:</a:t>
            </a: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Ask a GenAI tool to write the python code for Exercise 1.1.</a:t>
            </a: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Ask it to explain the code.</a:t>
            </a: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See if you can change the code to find the position where the first occurrence of the the sequence “AAC” in a given sequence.</a:t>
            </a:r>
          </a:p>
          <a:p>
            <a:r>
              <a:rPr lang="en-US" sz="2400" dirty="0">
                <a:latin typeface="Arial" panose="020B0604020202020204" pitchFamily="34" charset="0"/>
                <a:cs typeface="Arial" panose="020B0604020202020204" pitchFamily="34" charset="0"/>
              </a:rPr>
              <a:t>	– indices start from 0 in python so add 1 to get the position</a:t>
            </a:r>
          </a:p>
          <a:p>
            <a:pPr lvl="2"/>
            <a:r>
              <a:rPr lang="en-US" sz="2400" b="1" dirty="0"/>
              <a:t>– </a:t>
            </a:r>
            <a:r>
              <a:rPr lang="en-US" sz="2400" dirty="0"/>
              <a:t>There are string function that already implement the functionality we need in python</a:t>
            </a:r>
          </a:p>
          <a:p>
            <a:pPr lvl="2"/>
            <a:r>
              <a:rPr lang="en-US" sz="2400" dirty="0">
                <a:hlinkClick r:id="rId2"/>
              </a:rPr>
              <a:t>https://docs.python.org/3/library/stdtypes.html#string-methods</a:t>
            </a:r>
            <a:endParaRPr lang="en-US" sz="2400" dirty="0"/>
          </a:p>
          <a:p>
            <a:r>
              <a:rPr lang="en-US" sz="2400" dirty="0"/>
              <a:t>	Note: look at the .find and .index functions</a:t>
            </a:r>
          </a:p>
          <a:p>
            <a:endParaRPr lang="en-US" sz="24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2400" b="1"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e.g.: sequence = TCGAATACGGGAT, index = 0 # 0 if not found</a:t>
            </a: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e.g.: sequence = AATTGGTCGAACGA, index = 10</a:t>
            </a:r>
          </a:p>
          <a:p>
            <a:r>
              <a:rPr lang="en-US" sz="2400" b="1"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703539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BB8FE-EB25-777A-389D-98E4CC0D02C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770B0EB-B683-51CE-20A0-074920381AEC}"/>
              </a:ext>
            </a:extLst>
          </p:cNvPr>
          <p:cNvSpPr/>
          <p:nvPr/>
        </p:nvSpPr>
        <p:spPr>
          <a:xfrm>
            <a:off x="419126" y="1068783"/>
            <a:ext cx="11353747" cy="4154984"/>
          </a:xfrm>
          <a:prstGeom prst="rect">
            <a:avLst/>
          </a:prstGeom>
        </p:spPr>
        <p:txBody>
          <a:bodyPr wrap="square">
            <a:spAutoFit/>
          </a:bodyPr>
          <a:lstStyle/>
          <a:p>
            <a:r>
              <a:rPr lang="en-US" sz="2400" b="1" dirty="0">
                <a:latin typeface="Arial" panose="020B0604020202020204" pitchFamily="34" charset="0"/>
                <a:cs typeface="Arial" panose="020B0604020202020204" pitchFamily="34" charset="0"/>
              </a:rPr>
              <a:t>EXERCISE 2.1:</a:t>
            </a:r>
          </a:p>
          <a:p>
            <a:r>
              <a:rPr lang="en-US" sz="2400" b="1" dirty="0">
                <a:latin typeface="Arial" panose="020B0604020202020204" pitchFamily="34" charset="0"/>
                <a:cs typeface="Arial" panose="020B0604020202020204" pitchFamily="34" charset="0"/>
              </a:rPr>
              <a:t>Pattern Search</a:t>
            </a:r>
          </a:p>
          <a:p>
            <a:pPr marL="342900" indent="-342900">
              <a:buFont typeface="Arial" panose="020B0604020202020204" pitchFamily="34" charset="0"/>
              <a:buChar char="•"/>
            </a:pPr>
            <a:r>
              <a:rPr lang="en-US" sz="2400" b="1" dirty="0">
                <a:latin typeface="Arial" panose="020B0604020202020204" pitchFamily="34" charset="0"/>
                <a:cs typeface="Arial" panose="020B0604020202020204" pitchFamily="34" charset="0"/>
              </a:rPr>
              <a:t>Write pseudocode for an algorithm that finds the start index for all occurrences of a custom pattern </a:t>
            </a:r>
            <a:r>
              <a:rPr lang="en-US" sz="2400" dirty="0">
                <a:latin typeface="Arial" panose="020B0604020202020204" pitchFamily="34" charset="0"/>
                <a:cs typeface="Arial" panose="020B0604020202020204" pitchFamily="34" charset="0"/>
              </a:rPr>
              <a:t>(e.g.: AAC)</a:t>
            </a:r>
            <a:r>
              <a:rPr lang="en-US" sz="2400" b="1" dirty="0">
                <a:latin typeface="Arial" panose="020B0604020202020204" pitchFamily="34" charset="0"/>
                <a:cs typeface="Arial" panose="020B0604020202020204" pitchFamily="34" charset="0"/>
              </a:rPr>
              <a:t> in your sequence, the result will be a list of indices where the pattern occurs in your sequence</a:t>
            </a:r>
          </a:p>
          <a:p>
            <a:pPr marL="457200" indent="-457200">
              <a:buFont typeface="Arial" panose="020B0604020202020204" pitchFamily="34" charset="0"/>
              <a:buChar char="•"/>
            </a:pPr>
            <a:endParaRPr lang="en-US" sz="2400" b="1"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e.g.: sequence = TCGAATACGGGAT, indices = []</a:t>
            </a: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e.g.: sequence = AATTGGTCGAACGAAACTT, indices = [9,14]</a:t>
            </a:r>
          </a:p>
          <a:p>
            <a:pPr marL="457200" indent="-457200">
              <a:buFont typeface="Arial" panose="020B0604020202020204" pitchFamily="34" charset="0"/>
              <a:buChar char="•"/>
            </a:pPr>
            <a:endParaRPr lang="en-US" sz="2400" b="1"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Walk through the code to see how the variables change</a:t>
            </a:r>
          </a:p>
          <a:p>
            <a:r>
              <a:rPr lang="en-US" sz="2400" b="1" dirty="0">
                <a:ea typeface="Arial" charset="0"/>
                <a:cs typeface="Arial" charset="0"/>
              </a:rPr>
              <a:t> </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3545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7487F-1466-286A-26E5-62302A4137F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39A6759-B4E9-6EB3-C90F-7BFC658C43C1}"/>
              </a:ext>
            </a:extLst>
          </p:cNvPr>
          <p:cNvSpPr/>
          <p:nvPr/>
        </p:nvSpPr>
        <p:spPr>
          <a:xfrm>
            <a:off x="419126" y="1068783"/>
            <a:ext cx="11353747" cy="4154984"/>
          </a:xfrm>
          <a:prstGeom prst="rect">
            <a:avLst/>
          </a:prstGeom>
        </p:spPr>
        <p:txBody>
          <a:bodyPr wrap="square">
            <a:spAutoFit/>
          </a:bodyPr>
          <a:lstStyle/>
          <a:p>
            <a:r>
              <a:rPr lang="en-US" sz="2400" b="1" dirty="0">
                <a:latin typeface="Arial" panose="020B0604020202020204" pitchFamily="34" charset="0"/>
                <a:cs typeface="Arial" panose="020B0604020202020204" pitchFamily="34" charset="0"/>
              </a:rPr>
              <a:t>EXERCISE 2.2:</a:t>
            </a:r>
          </a:p>
          <a:p>
            <a:r>
              <a:rPr lang="en-US" sz="2400" b="1" dirty="0">
                <a:latin typeface="Arial" panose="020B0604020202020204" pitchFamily="34" charset="0"/>
                <a:cs typeface="Arial" panose="020B0604020202020204" pitchFamily="34" charset="0"/>
              </a:rPr>
              <a:t>Complementary Sequence</a:t>
            </a: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    -   Write pseudocode for an algorithm that generates the complementary strand of your DNA sequence</a:t>
            </a: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    -   Remember: A pairs with T, C pairs with G</a:t>
            </a: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e.g.: sequence = TCGAA, complement = AGCTT</a:t>
            </a: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e.g.: sequence = AATTGGC, complement = TTAACCG</a:t>
            </a:r>
          </a:p>
          <a:p>
            <a:pPr marL="457200" indent="-457200">
              <a:buFont typeface="Arial" panose="020B0604020202020204" pitchFamily="34" charset="0"/>
              <a:buChar char="•"/>
            </a:pPr>
            <a:endParaRPr lang="en-US" sz="2400" b="1"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Walk through the code to see how the variables change</a:t>
            </a:r>
          </a:p>
          <a:p>
            <a:pPr marL="457200" indent="-457200">
              <a:buFont typeface="Arial" panose="020B0604020202020204" pitchFamily="34" charset="0"/>
              <a:buChar char="•"/>
            </a:pPr>
            <a:endParaRPr lang="en-US" sz="2400" b="1" dirty="0">
              <a:latin typeface="Arial" panose="020B0604020202020204" pitchFamily="34" charset="0"/>
              <a:cs typeface="Arial" panose="020B0604020202020204" pitchFamily="34" charset="0"/>
            </a:endParaRPr>
          </a:p>
          <a:p>
            <a:r>
              <a:rPr lang="en-US" sz="2400" b="1" dirty="0">
                <a:ea typeface="Arial" charset="0"/>
                <a:cs typeface="Arial" charset="0"/>
              </a:rPr>
              <a:t> </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2646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23373-6511-C489-F734-6C1CA93873B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25C32C9-B61C-DB13-569F-7E029D338C25}"/>
              </a:ext>
            </a:extLst>
          </p:cNvPr>
          <p:cNvSpPr/>
          <p:nvPr/>
        </p:nvSpPr>
        <p:spPr>
          <a:xfrm>
            <a:off x="419126" y="1068783"/>
            <a:ext cx="11353747" cy="5386090"/>
          </a:xfrm>
          <a:prstGeom prst="rect">
            <a:avLst/>
          </a:prstGeom>
        </p:spPr>
        <p:txBody>
          <a:bodyPr wrap="square">
            <a:spAutoFit/>
          </a:bodyPr>
          <a:lstStyle/>
          <a:p>
            <a:r>
              <a:rPr lang="en-US" sz="2400" b="1" dirty="0">
                <a:latin typeface="Arial" panose="020B0604020202020204" pitchFamily="34" charset="0"/>
                <a:cs typeface="Arial" panose="020B0604020202020204" pitchFamily="34" charset="0"/>
              </a:rPr>
              <a:t>EXERCISE 3.1:</a:t>
            </a: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Write bash code to identify the top 5 most common food groups (</a:t>
            </a:r>
            <a:r>
              <a:rPr lang="en-US" sz="2400" b="1" dirty="0" err="1">
                <a:latin typeface="Arial" panose="020B0604020202020204" pitchFamily="34" charset="0"/>
                <a:cs typeface="Arial" panose="020B0604020202020204" pitchFamily="34" charset="0"/>
              </a:rPr>
              <a:t>food_group</a:t>
            </a:r>
            <a:r>
              <a:rPr lang="en-US" sz="2400" b="1" dirty="0">
                <a:latin typeface="Arial" panose="020B0604020202020204" pitchFamily="34" charset="0"/>
                <a:cs typeface="Arial" panose="020B0604020202020204" pitchFamily="34" charset="0"/>
              </a:rPr>
              <a:t> column) in the </a:t>
            </a:r>
            <a:r>
              <a:rPr lang="en-US" sz="2400" b="1" dirty="0" err="1">
                <a:latin typeface="Arial" panose="020B0604020202020204" pitchFamily="34" charset="0"/>
                <a:cs typeface="Arial" panose="020B0604020202020204" pitchFamily="34" charset="0"/>
              </a:rPr>
              <a:t>Food.csv</a:t>
            </a:r>
            <a:r>
              <a:rPr lang="en-US" sz="2400" b="1" dirty="0">
                <a:latin typeface="Arial" panose="020B0604020202020204" pitchFamily="34" charset="0"/>
                <a:cs typeface="Arial" panose="020B0604020202020204" pitchFamily="34" charset="0"/>
              </a:rPr>
              <a:t>. Check the header the see what columns are available in the file.</a:t>
            </a:r>
          </a:p>
          <a:p>
            <a:r>
              <a:rPr lang="en-US" sz="2400" b="1" dirty="0">
                <a:latin typeface="Arial" panose="020B0604020202020204" pitchFamily="34" charset="0"/>
                <a:cs typeface="Arial" panose="020B0604020202020204" pitchFamily="34" charset="0"/>
              </a:rPr>
              <a:t>	- </a:t>
            </a:r>
            <a:r>
              <a:rPr lang="en-US" sz="2400" dirty="0">
                <a:latin typeface="Arial" panose="020B0604020202020204" pitchFamily="34" charset="0"/>
                <a:cs typeface="Arial" panose="020B0604020202020204" pitchFamily="34" charset="0"/>
              </a:rPr>
              <a:t>The result would be 5 lines with 2 columns: count and food group name</a:t>
            </a:r>
          </a:p>
          <a:p>
            <a:pPr marL="457200" indent="-457200">
              <a:buFont typeface="Arial" panose="020B0604020202020204" pitchFamily="34" charset="0"/>
              <a:buChar char="•"/>
            </a:pPr>
            <a:endParaRPr lang="en-US" sz="2400" b="1"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Notes: </a:t>
            </a:r>
          </a:p>
          <a:p>
            <a:r>
              <a:rPr lang="en-US" sz="2000" dirty="0">
                <a:latin typeface="Arial" panose="020B0604020202020204" pitchFamily="34" charset="0"/>
                <a:cs typeface="Arial" panose="020B0604020202020204" pitchFamily="34" charset="0"/>
              </a:rPr>
              <a:t>- The file is comma separated, but it has some fields that have commas in the text, for instance, the food description text is quoted and contains commas and sometimes new lines and quoted text.</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An example description with commas:</a:t>
            </a:r>
          </a:p>
          <a:p>
            <a:r>
              <a:rPr lang="en-US" sz="2000" dirty="0">
                <a:latin typeface="Arial" panose="020B0604020202020204" pitchFamily="34" charset="0"/>
                <a:cs typeface="Arial" panose="020B0604020202020204" pitchFamily="34" charset="0"/>
              </a:rPr>
              <a:t>"Angelica is a genus of about 60 species of tall biennial and perennial herbs in the family </a:t>
            </a:r>
            <a:r>
              <a:rPr lang="en-US" sz="2000" dirty="0" err="1">
                <a:latin typeface="Arial" panose="020B0604020202020204" pitchFamily="34" charset="0"/>
                <a:cs typeface="Arial" panose="020B0604020202020204" pitchFamily="34" charset="0"/>
              </a:rPr>
              <a:t>Apiaceae</a:t>
            </a:r>
            <a:r>
              <a:rPr lang="en-US" sz="2000" dirty="0">
                <a:latin typeface="Arial" panose="020B0604020202020204" pitchFamily="34" charset="0"/>
                <a:cs typeface="Arial" panose="020B0604020202020204" pitchFamily="34" charset="0"/>
              </a:rPr>
              <a:t>, native to temperate and subarctic regions of the Northern Hemisphere, reaching as far north as Iceland and Lapland. They grow to 1–3 m tall, with large bipinnate leaves and large compound umbels of white or greenish-white flowers. Some species can be found in purple moor and rush pastures."</a:t>
            </a:r>
            <a:r>
              <a:rPr lang="en-US" sz="2000" dirty="0">
                <a:ea typeface="Arial" charset="0"/>
                <a:cs typeface="Arial" charset="0"/>
              </a:rPr>
              <a:t> </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28919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78B1F-9828-4686-A4ED-6600CB6C759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9A0276C-6965-F9CE-72F5-4198B741D473}"/>
              </a:ext>
            </a:extLst>
          </p:cNvPr>
          <p:cNvSpPr/>
          <p:nvPr/>
        </p:nvSpPr>
        <p:spPr>
          <a:xfrm>
            <a:off x="419126" y="1068783"/>
            <a:ext cx="11353747" cy="2677656"/>
          </a:xfrm>
          <a:prstGeom prst="rect">
            <a:avLst/>
          </a:prstGeom>
        </p:spPr>
        <p:txBody>
          <a:bodyPr wrap="square">
            <a:spAutoFit/>
          </a:bodyPr>
          <a:lstStyle/>
          <a:p>
            <a:r>
              <a:rPr lang="en-US" sz="2400" b="1" dirty="0">
                <a:latin typeface="Arial" panose="020B0604020202020204" pitchFamily="34" charset="0"/>
                <a:cs typeface="Arial" panose="020B0604020202020204" pitchFamily="34" charset="0"/>
              </a:rPr>
              <a:t>EXERCISE 3.2:</a:t>
            </a: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Ask a Gen AI tool to write python code to solve </a:t>
            </a:r>
            <a:r>
              <a:rPr lang="en-US" sz="2400" b="1">
                <a:latin typeface="Arial" panose="020B0604020202020204" pitchFamily="34" charset="0"/>
                <a:cs typeface="Arial" panose="020B0604020202020204" pitchFamily="34" charset="0"/>
              </a:rPr>
              <a:t>Exercise 3.1</a:t>
            </a:r>
            <a:r>
              <a:rPr lang="en-US" sz="2400" b="1" dirty="0">
                <a:latin typeface="Arial" panose="020B0604020202020204" pitchFamily="34" charset="0"/>
                <a:cs typeface="Arial" panose="020B0604020202020204" pitchFamily="34" charset="0"/>
              </a:rPr>
              <a:t>.</a:t>
            </a: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Is it simpler to write python code for this exercise than solving the exercise in bash?</a:t>
            </a:r>
          </a:p>
          <a:p>
            <a:r>
              <a:rPr lang="en-US" sz="2400" dirty="0">
                <a:latin typeface="Arial" panose="020B0604020202020204" pitchFamily="34" charset="0"/>
                <a:cs typeface="Arial" panose="020B0604020202020204" pitchFamily="34" charset="0"/>
              </a:rPr>
              <a:t>Note: The compound name may contain commas and in that case is quoted - that affects the split by comma but should not affect the results in this case</a:t>
            </a:r>
          </a:p>
          <a:p>
            <a:r>
              <a:rPr lang="en-US" sz="2400" b="1" dirty="0">
                <a:ea typeface="Arial" charset="0"/>
                <a:cs typeface="Arial" charset="0"/>
              </a:rPr>
              <a:t> </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1663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6DB7CA8-3C7F-BF43-8592-840A5DBA757B}"/>
              </a:ext>
            </a:extLst>
          </p:cNvPr>
          <p:cNvSpPr/>
          <p:nvPr/>
        </p:nvSpPr>
        <p:spPr>
          <a:xfrm>
            <a:off x="419126" y="2028903"/>
            <a:ext cx="11353747" cy="3539430"/>
          </a:xfrm>
          <a:prstGeom prst="rect">
            <a:avLst/>
          </a:prstGeom>
        </p:spPr>
        <p:txBody>
          <a:bodyPr wrap="square">
            <a:spAutoFit/>
          </a:bodyPr>
          <a:lstStyle/>
          <a:p>
            <a:pPr marL="457200" indent="-457200">
              <a:buFont typeface="Arial" panose="020B0604020202020204" pitchFamily="34" charset="0"/>
              <a:buChar char="•"/>
            </a:pPr>
            <a:r>
              <a:rPr lang="en-US" sz="2800" b="1" dirty="0">
                <a:latin typeface="Arial" panose="020B0604020202020204" pitchFamily="34" charset="0"/>
                <a:ea typeface="Arial" charset="0"/>
                <a:cs typeface="Arial" panose="020B0604020202020204" pitchFamily="34" charset="0"/>
              </a:rPr>
              <a:t>Resources: </a:t>
            </a:r>
          </a:p>
          <a:p>
            <a:pPr marL="457200" indent="-457200">
              <a:buFont typeface="Arial" panose="020B0604020202020204" pitchFamily="34" charset="0"/>
              <a:buChar char="•"/>
            </a:pPr>
            <a:r>
              <a:rPr lang="en-US" sz="2400" dirty="0">
                <a:latin typeface="Arial" panose="020B0604020202020204" pitchFamily="34" charset="0"/>
                <a:ea typeface="Arial" charset="0"/>
                <a:cs typeface="Arial" panose="020B0604020202020204" pitchFamily="34" charset="0"/>
                <a:hlinkClick r:id="rId2"/>
              </a:rPr>
              <a:t>https://www.unf.edu/~broggio/cop2221/2221pseu.htm</a:t>
            </a:r>
            <a:endParaRPr lang="en-US" sz="2400" dirty="0">
              <a:latin typeface="Arial" panose="020B0604020202020204" pitchFamily="34" charset="0"/>
              <a:ea typeface="Arial" charset="0"/>
              <a:cs typeface="Arial" panose="020B0604020202020204" pitchFamily="34" charset="0"/>
            </a:endParaRPr>
          </a:p>
          <a:p>
            <a:pPr marL="457200" indent="-457200">
              <a:buFont typeface="Arial" panose="020B0604020202020204" pitchFamily="34" charset="0"/>
              <a:buChar char="•"/>
            </a:pPr>
            <a:r>
              <a:rPr lang="en-US" sz="2400" dirty="0">
                <a:latin typeface="Arial" panose="020B0604020202020204" pitchFamily="34" charset="0"/>
                <a:ea typeface="Arial" charset="0"/>
                <a:cs typeface="Arial" panose="020B0604020202020204" pitchFamily="34" charset="0"/>
                <a:hlinkClick r:id="rId3"/>
              </a:rPr>
              <a:t>https://users.csc.calpoly.edu/~jdalbey/SWE/pdl_std.html</a:t>
            </a:r>
            <a:endParaRPr lang="en-US" sz="2400" dirty="0">
              <a:latin typeface="Arial" panose="020B0604020202020204" pitchFamily="34" charset="0"/>
              <a:ea typeface="Arial" charset="0"/>
              <a:cs typeface="Arial" panose="020B0604020202020204" pitchFamily="34" charset="0"/>
            </a:endParaRPr>
          </a:p>
          <a:p>
            <a:pPr marL="457200" indent="-457200">
              <a:buFont typeface="Arial" panose="020B0604020202020204" pitchFamily="34" charset="0"/>
              <a:buChar char="•"/>
            </a:pPr>
            <a:r>
              <a:rPr lang="en-US" sz="2400" dirty="0">
                <a:latin typeface="Arial" panose="020B0604020202020204" pitchFamily="34" charset="0"/>
                <a:ea typeface="Arial" charset="0"/>
                <a:cs typeface="Arial" panose="020B0604020202020204" pitchFamily="34" charset="0"/>
                <a:hlinkClick r:id="rId4"/>
              </a:rPr>
              <a:t>https://git-scm.com/docs/gittutorial</a:t>
            </a:r>
            <a:endParaRPr lang="en-US" sz="2400" dirty="0">
              <a:latin typeface="Arial" panose="020B0604020202020204" pitchFamily="34" charset="0"/>
              <a:ea typeface="Arial" charset="0"/>
              <a:cs typeface="Arial" panose="020B0604020202020204" pitchFamily="34" charset="0"/>
            </a:endParaRPr>
          </a:p>
          <a:p>
            <a:pPr marL="457200" indent="-457200">
              <a:buFont typeface="Arial" panose="020B0604020202020204" pitchFamily="34" charset="0"/>
              <a:buChar char="•"/>
            </a:pPr>
            <a:r>
              <a:rPr lang="en-US" sz="2400" dirty="0">
                <a:latin typeface="Arial" panose="020B0604020202020204" pitchFamily="34" charset="0"/>
                <a:ea typeface="Arial" charset="0"/>
                <a:cs typeface="Arial" panose="020B0604020202020204" pitchFamily="34" charset="0"/>
                <a:hlinkClick r:id="rId5"/>
              </a:rPr>
              <a:t>https://try.github.io</a:t>
            </a:r>
            <a:endParaRPr lang="en-US" sz="2400" dirty="0">
              <a:latin typeface="Arial" panose="020B0604020202020204" pitchFamily="34" charset="0"/>
              <a:ea typeface="Arial" charset="0"/>
              <a:cs typeface="Arial" panose="020B0604020202020204" pitchFamily="34" charset="0"/>
            </a:endParaRPr>
          </a:p>
          <a:p>
            <a:pPr marL="457200" indent="-457200">
              <a:buFont typeface="Arial" panose="020B0604020202020204" pitchFamily="34" charset="0"/>
              <a:buChar char="•"/>
            </a:pPr>
            <a:r>
              <a:rPr lang="en-US" sz="2400" dirty="0">
                <a:latin typeface="Arial" panose="020B0604020202020204" pitchFamily="34" charset="0"/>
                <a:ea typeface="Arial" charset="0"/>
                <a:cs typeface="Arial" panose="020B0604020202020204" pitchFamily="34" charset="0"/>
                <a:hlinkClick r:id="rId6"/>
              </a:rPr>
              <a:t>https://www.tutorialspoint.com/git/index.htm</a:t>
            </a:r>
            <a:endParaRPr lang="en-US" sz="2400" dirty="0">
              <a:latin typeface="Arial" panose="020B0604020202020204" pitchFamily="34" charset="0"/>
              <a:ea typeface="Arial" charset="0"/>
              <a:cs typeface="Arial" panose="020B0604020202020204" pitchFamily="34" charset="0"/>
            </a:endParaRPr>
          </a:p>
          <a:p>
            <a:pPr marL="457200" indent="-457200">
              <a:buFont typeface="Arial" panose="020B0604020202020204" pitchFamily="34" charset="0"/>
              <a:buChar char="•"/>
            </a:pPr>
            <a:r>
              <a:rPr lang="en-US" sz="2400" dirty="0">
                <a:latin typeface="Arial" panose="020B0604020202020204" pitchFamily="34" charset="0"/>
                <a:ea typeface="Arial" charset="0"/>
                <a:cs typeface="Arial" panose="020B0604020202020204" pitchFamily="34" charset="0"/>
                <a:hlinkClick r:id="rId7"/>
              </a:rPr>
              <a:t>https://www.atlassian.com/git/tutorials/using-branches/merge-conflicts</a:t>
            </a:r>
            <a:endParaRPr lang="en-US" sz="2400" dirty="0">
              <a:latin typeface="Arial" panose="020B0604020202020204" pitchFamily="34" charset="0"/>
              <a:ea typeface="Arial" charset="0"/>
              <a:cs typeface="Arial" panose="020B0604020202020204" pitchFamily="34" charset="0"/>
            </a:endParaRPr>
          </a:p>
          <a:p>
            <a:pPr marL="457200" indent="-457200">
              <a:buFont typeface="Arial" panose="020B0604020202020204" pitchFamily="34" charset="0"/>
              <a:buChar char="•"/>
            </a:pPr>
            <a:endParaRPr lang="en-US" sz="2400" dirty="0">
              <a:latin typeface="Arial" panose="020B0604020202020204" pitchFamily="34" charset="0"/>
              <a:ea typeface="Arial" charset="0"/>
              <a:cs typeface="Arial" panose="020B0604020202020204" pitchFamily="34" charset="0"/>
            </a:endParaRPr>
          </a:p>
          <a:p>
            <a:pPr marL="457200" indent="-457200">
              <a:buFont typeface="Arial" panose="020B0604020202020204" pitchFamily="34" charset="0"/>
              <a:buChar char="•"/>
            </a:pPr>
            <a:endParaRPr lang="en-US" sz="2800" dirty="0">
              <a:latin typeface="Arial" panose="020B0604020202020204" pitchFamily="34" charset="0"/>
              <a:ea typeface="Arial" charset="0"/>
              <a:cs typeface="Arial" panose="020B0604020202020204" pitchFamily="34" charset="0"/>
            </a:endParaRPr>
          </a:p>
        </p:txBody>
      </p:sp>
    </p:spTree>
    <p:extLst>
      <p:ext uri="{BB962C8B-B14F-4D97-AF65-F5344CB8AC3E}">
        <p14:creationId xmlns:p14="http://schemas.microsoft.com/office/powerpoint/2010/main" val="23391535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9021</TotalTime>
  <Words>665</Words>
  <Application>Microsoft Macintosh PowerPoint</Application>
  <PresentationFormat>Widescreen</PresentationFormat>
  <Paragraphs>68</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Mitrea, Cristina</dc:creator>
  <cp:lastModifiedBy>Mitrea, Cristina</cp:lastModifiedBy>
  <cp:revision>78</cp:revision>
  <dcterms:created xsi:type="dcterms:W3CDTF">2020-09-10T12:48:40Z</dcterms:created>
  <dcterms:modified xsi:type="dcterms:W3CDTF">2025-09-23T18:12:17Z</dcterms:modified>
</cp:coreProperties>
</file>