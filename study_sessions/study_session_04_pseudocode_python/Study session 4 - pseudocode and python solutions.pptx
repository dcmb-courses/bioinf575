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477" r:id="rId2"/>
    <p:sldId id="604" r:id="rId3"/>
    <p:sldId id="598" r:id="rId4"/>
    <p:sldId id="606" r:id="rId5"/>
    <p:sldId id="622" r:id="rId6"/>
    <p:sldId id="610" r:id="rId7"/>
    <p:sldId id="613" r:id="rId8"/>
    <p:sldId id="612" r:id="rId9"/>
    <p:sldId id="611" r:id="rId10"/>
    <p:sldId id="614" r:id="rId11"/>
    <p:sldId id="615" r:id="rId12"/>
    <p:sldId id="608" r:id="rId13"/>
    <p:sldId id="616" r:id="rId14"/>
    <p:sldId id="618" r:id="rId15"/>
    <p:sldId id="609" r:id="rId16"/>
    <p:sldId id="617" r:id="rId17"/>
    <p:sldId id="605" r:id="rId18"/>
    <p:sldId id="619" r:id="rId19"/>
    <p:sldId id="607" r:id="rId20"/>
    <p:sldId id="620" r:id="rId21"/>
    <p:sldId id="621" r:id="rId22"/>
    <p:sldId id="59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473"/>
    <p:restoredTop sz="94675"/>
  </p:normalViewPr>
  <p:slideViewPr>
    <p:cSldViewPr snapToGrid="0" snapToObjects="1">
      <p:cViewPr varScale="1">
        <p:scale>
          <a:sx n="107" d="100"/>
          <a:sy n="107" d="100"/>
        </p:scale>
        <p:origin x="26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C69D77-E953-F64E-B1C1-A2271342F9B8}" type="datetimeFigureOut">
              <a:rPr lang="en-US" smtClean="0"/>
              <a:t>9/18/25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C4C638-DC6E-E946-A22D-4969B22EA37B}" type="slidenum">
              <a:rPr lang="en-US" smtClean="0"/>
              <a:t>‹#›</a:t>
            </a:fld>
            <a:endParaRPr lang="en-US"/>
          </a:p>
        </p:txBody>
      </p:sp>
    </p:spTree>
    <p:extLst>
      <p:ext uri="{BB962C8B-B14F-4D97-AF65-F5344CB8AC3E}">
        <p14:creationId xmlns:p14="http://schemas.microsoft.com/office/powerpoint/2010/main" val="2881910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999D9-1DDC-BB45-A50C-17DD98E791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E63A50-8456-8247-8F1B-D2ADBC211F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54159A-91F0-C14C-AA30-885D3F12BCDF}"/>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5" name="Footer Placeholder 4">
            <a:extLst>
              <a:ext uri="{FF2B5EF4-FFF2-40B4-BE49-F238E27FC236}">
                <a16:creationId xmlns:a16="http://schemas.microsoft.com/office/drawing/2014/main" id="{92240CDF-7B32-B947-864E-E6F9F350C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0D0388-F90F-F943-95FE-DECB3D867507}"/>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3396140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FCE66-6F51-B445-8B6E-B533AAA387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2D7EC7-9FAB-7E41-8B1B-2297ED496B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835DEA-DD25-5842-A565-0AB21A085EE0}"/>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5" name="Footer Placeholder 4">
            <a:extLst>
              <a:ext uri="{FF2B5EF4-FFF2-40B4-BE49-F238E27FC236}">
                <a16:creationId xmlns:a16="http://schemas.microsoft.com/office/drawing/2014/main" id="{503EAF29-1634-5946-87A2-D8AB95DE55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1926C9-C4D4-204C-BAA5-5136E3CEF7F6}"/>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3989129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48F23-FE62-3940-95C1-3F202FF0F2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EDA9AC-2D42-0543-BBB3-3638F16F98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C6DD38-0754-C047-9E27-A07D6CA5299A}"/>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5" name="Footer Placeholder 4">
            <a:extLst>
              <a:ext uri="{FF2B5EF4-FFF2-40B4-BE49-F238E27FC236}">
                <a16:creationId xmlns:a16="http://schemas.microsoft.com/office/drawing/2014/main" id="{5BF7C112-0475-3D42-B6FA-8208B25BBE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72C7BB-446F-D943-B2FE-CC6995FD7E9E}"/>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1328489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86F0C-9C25-EF41-AB94-112286EA93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B91654-FA2E-F344-9968-7E490CAE26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3A2C5D-5847-434F-86B2-3A1A6BB670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1EC74F-431B-124C-A9DF-9C24A1886621}"/>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6" name="Footer Placeholder 5">
            <a:extLst>
              <a:ext uri="{FF2B5EF4-FFF2-40B4-BE49-F238E27FC236}">
                <a16:creationId xmlns:a16="http://schemas.microsoft.com/office/drawing/2014/main" id="{AFF5391D-3F98-0448-932C-4E1F17A8C9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8EF126-2ACB-E443-B9C9-F011CB29A858}"/>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2079389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62A5-8570-8D42-9B33-2857692CCD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7519C2-2940-9441-AD4B-1B8CF7B617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BDE565-B4C3-274A-A949-BC3E836F5B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A39605-4B35-5A48-ABF7-75590E9DBC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B482E6-B6E6-854D-95CC-7941E427C7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8E335C-049C-564C-A221-0DF860323463}"/>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8" name="Footer Placeholder 7">
            <a:extLst>
              <a:ext uri="{FF2B5EF4-FFF2-40B4-BE49-F238E27FC236}">
                <a16:creationId xmlns:a16="http://schemas.microsoft.com/office/drawing/2014/main" id="{B3C7BC8B-B280-4146-90E5-5171D715D2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FA2582-A6A1-384A-A9E9-0F587A871978}"/>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3545770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49B28-8B4C-4746-8392-D512BBEF47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FE2B06-B237-7146-8E42-611A8EE5D8B6}"/>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4" name="Footer Placeholder 3">
            <a:extLst>
              <a:ext uri="{FF2B5EF4-FFF2-40B4-BE49-F238E27FC236}">
                <a16:creationId xmlns:a16="http://schemas.microsoft.com/office/drawing/2014/main" id="{31405EAF-264F-5544-B95B-A9BA3AA902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00D249-4822-2E45-BA39-8C51FFDF0156}"/>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1996489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CBE0AA-23A6-6941-ABB6-172A95114921}"/>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3" name="Footer Placeholder 2">
            <a:extLst>
              <a:ext uri="{FF2B5EF4-FFF2-40B4-BE49-F238E27FC236}">
                <a16:creationId xmlns:a16="http://schemas.microsoft.com/office/drawing/2014/main" id="{2B53B151-8B05-394B-A348-09364EC509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8CA6FE-3B6C-DC45-BF76-D99CCA36E51F}"/>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1071885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28DB-7073-8647-BD82-46724957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5219BC-2007-8A4F-95AE-18E8723887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176F01-512E-A444-8492-5EBDEE663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02489F-4AA9-D74A-892A-5CB8AB399724}"/>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6" name="Footer Placeholder 5">
            <a:extLst>
              <a:ext uri="{FF2B5EF4-FFF2-40B4-BE49-F238E27FC236}">
                <a16:creationId xmlns:a16="http://schemas.microsoft.com/office/drawing/2014/main" id="{53748FFA-C9AF-2A45-8B9F-D49FBFEEFA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E986D9-44FF-B841-87A9-7D93FE215BB4}"/>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41016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0F23-E137-0347-8335-F07190A797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82871-A0FA-184E-A246-ACC8CCFC1B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0D7D0B-BAD4-3743-9E6A-F9F6FE388C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7A1000-2AB0-A244-AD8A-122851D389D2}"/>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6" name="Footer Placeholder 5">
            <a:extLst>
              <a:ext uri="{FF2B5EF4-FFF2-40B4-BE49-F238E27FC236}">
                <a16:creationId xmlns:a16="http://schemas.microsoft.com/office/drawing/2014/main" id="{E5FA04E5-58DD-C947-AAAC-8252FDD9A6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C053BF-131F-3048-80E2-A7964E183BFF}"/>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222976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492C-E225-D643-8291-24A478B019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13F598-2E0B-934D-A1ED-E99B97EF57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7E651B-C657-CD4F-9711-B5287A086130}"/>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5" name="Footer Placeholder 4">
            <a:extLst>
              <a:ext uri="{FF2B5EF4-FFF2-40B4-BE49-F238E27FC236}">
                <a16:creationId xmlns:a16="http://schemas.microsoft.com/office/drawing/2014/main" id="{4BDED1A1-A865-8040-ADC3-C14D0F4B6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A8EBA-D787-8D4A-8653-C3AC622CC453}"/>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2833882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BFF14A-94E0-9940-9A4C-736D79CF68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461A9B-29D0-7B4E-A22B-B367004B1B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791D7-7BF2-0547-91C0-0622BE8E6FB9}"/>
              </a:ext>
            </a:extLst>
          </p:cNvPr>
          <p:cNvSpPr>
            <a:spLocks noGrp="1"/>
          </p:cNvSpPr>
          <p:nvPr>
            <p:ph type="dt" sz="half" idx="10"/>
          </p:nvPr>
        </p:nvSpPr>
        <p:spPr/>
        <p:txBody>
          <a:bodyPr/>
          <a:lstStyle/>
          <a:p>
            <a:fld id="{A495D127-D6C0-7F4C-928F-048A1DB2F761}" type="datetimeFigureOut">
              <a:rPr lang="en-US" smtClean="0"/>
              <a:t>9/18/25</a:t>
            </a:fld>
            <a:endParaRPr lang="en-US"/>
          </a:p>
        </p:txBody>
      </p:sp>
      <p:sp>
        <p:nvSpPr>
          <p:cNvPr id="5" name="Footer Placeholder 4">
            <a:extLst>
              <a:ext uri="{FF2B5EF4-FFF2-40B4-BE49-F238E27FC236}">
                <a16:creationId xmlns:a16="http://schemas.microsoft.com/office/drawing/2014/main" id="{85290676-8313-4741-B979-9AA835E62A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AE490B-DBB9-2A47-BF2D-0B3D8C75BB01}"/>
              </a:ext>
            </a:extLst>
          </p:cNvPr>
          <p:cNvSpPr>
            <a:spLocks noGrp="1"/>
          </p:cNvSpPr>
          <p:nvPr>
            <p:ph type="sldNum" sz="quarter" idx="12"/>
          </p:nvPr>
        </p:nvSpPr>
        <p:spPr/>
        <p:txBody>
          <a:bodyPr/>
          <a:lstStyle/>
          <a:p>
            <a:fld id="{F28C0A36-09F1-DB41-9440-BFBE2603C6F3}" type="slidenum">
              <a:rPr lang="en-US" smtClean="0"/>
              <a:t>‹#›</a:t>
            </a:fld>
            <a:endParaRPr lang="en-US"/>
          </a:p>
        </p:txBody>
      </p:sp>
    </p:spTree>
    <p:extLst>
      <p:ext uri="{BB962C8B-B14F-4D97-AF65-F5344CB8AC3E}">
        <p14:creationId xmlns:p14="http://schemas.microsoft.com/office/powerpoint/2010/main" val="4222360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57CD6E-27D6-AA4A-96AE-677D837918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91D76D-C32D-D64C-9C2C-65CF5EF282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168D39-8D42-664E-A9CB-3102E69F5A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95D127-D6C0-7F4C-928F-048A1DB2F761}" type="datetimeFigureOut">
              <a:rPr lang="en-US" smtClean="0"/>
              <a:t>9/18/25</a:t>
            </a:fld>
            <a:endParaRPr lang="en-US"/>
          </a:p>
        </p:txBody>
      </p:sp>
      <p:sp>
        <p:nvSpPr>
          <p:cNvPr id="5" name="Footer Placeholder 4">
            <a:extLst>
              <a:ext uri="{FF2B5EF4-FFF2-40B4-BE49-F238E27FC236}">
                <a16:creationId xmlns:a16="http://schemas.microsoft.com/office/drawing/2014/main" id="{3EC03292-4072-9D4A-B51C-5E81E32ECD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4E5363-C86D-7246-B29E-8E35B2FC25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8C0A36-09F1-DB41-9440-BFBE2603C6F3}" type="slidenum">
              <a:rPr lang="en-US" smtClean="0"/>
              <a:t>‹#›</a:t>
            </a:fld>
            <a:endParaRPr lang="en-US"/>
          </a:p>
        </p:txBody>
      </p:sp>
    </p:spTree>
    <p:extLst>
      <p:ext uri="{BB962C8B-B14F-4D97-AF65-F5344CB8AC3E}">
        <p14:creationId xmlns:p14="http://schemas.microsoft.com/office/powerpoint/2010/main" val="222727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cs.python.org/3/library/stdtypes.html#string-method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ocs.python.org/3/library/stdtypes.html#string-methods"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users.csc.calpoly.edu/~jdalbey/SWE/pdl_std.html" TargetMode="External"/><Relationship Id="rId7" Type="http://schemas.openxmlformats.org/officeDocument/2006/relationships/hyperlink" Target="https://www.atlassian.com/git/tutorials/using-branches/merge-conflicts" TargetMode="External"/><Relationship Id="rId2" Type="http://schemas.openxmlformats.org/officeDocument/2006/relationships/hyperlink" Target="https://www.unf.edu/~broggio/cop2221/2221pseu.htm" TargetMode="External"/><Relationship Id="rId1" Type="http://schemas.openxmlformats.org/officeDocument/2006/relationships/slideLayout" Target="../slideLayouts/slideLayout2.xml"/><Relationship Id="rId6" Type="http://schemas.openxmlformats.org/officeDocument/2006/relationships/hyperlink" Target="https://www.tutorialspoint.com/git/index.htm" TargetMode="External"/><Relationship Id="rId5" Type="http://schemas.openxmlformats.org/officeDocument/2006/relationships/hyperlink" Target="https://try.github.io/" TargetMode="External"/><Relationship Id="rId4" Type="http://schemas.openxmlformats.org/officeDocument/2006/relationships/hyperlink" Target="https://git-scm.com/docs/gittutori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9100" y="1275503"/>
            <a:ext cx="11353800" cy="2308324"/>
          </a:xfrm>
          <a:prstGeom prst="rect">
            <a:avLst/>
          </a:prstGeom>
          <a:noFill/>
        </p:spPr>
        <p:txBody>
          <a:bodyPr wrap="square" rtlCol="0">
            <a:spAutoFit/>
          </a:bodyPr>
          <a:lstStyle/>
          <a:p>
            <a:pPr algn="ctr"/>
            <a:r>
              <a:rPr lang="en-US" sz="3200" b="1" dirty="0">
                <a:latin typeface="Arial" charset="0"/>
                <a:ea typeface="Arial" charset="0"/>
                <a:cs typeface="Arial" charset="0"/>
              </a:rPr>
              <a:t>Pseudocode and Python</a:t>
            </a:r>
          </a:p>
          <a:p>
            <a:pPr algn="ctr"/>
            <a:endParaRPr lang="en-US" sz="2800" b="1" dirty="0">
              <a:latin typeface="Arial" charset="0"/>
              <a:ea typeface="Arial" charset="0"/>
              <a:cs typeface="Arial" charset="0"/>
            </a:endParaRPr>
          </a:p>
          <a:p>
            <a:pPr algn="ctr"/>
            <a:r>
              <a:rPr lang="en-US" sz="2800" b="1" dirty="0">
                <a:latin typeface="Arial" charset="0"/>
                <a:ea typeface="Arial" charset="0"/>
                <a:cs typeface="Arial" charset="0"/>
              </a:rPr>
              <a:t>BIOINF 575</a:t>
            </a:r>
          </a:p>
          <a:p>
            <a:pPr algn="ctr"/>
            <a:endParaRPr lang="en-US" sz="2800" b="1" dirty="0">
              <a:latin typeface="Arial" charset="0"/>
              <a:ea typeface="Arial" charset="0"/>
              <a:cs typeface="Arial" charset="0"/>
            </a:endParaRPr>
          </a:p>
          <a:p>
            <a:pPr algn="ctr"/>
            <a:r>
              <a:rPr lang="en-US" sz="2800" b="1" dirty="0">
                <a:latin typeface="Arial" charset="0"/>
                <a:ea typeface="Arial" charset="0"/>
                <a:cs typeface="Arial" charset="0"/>
              </a:rPr>
              <a:t>Study Session - SOLUTION</a:t>
            </a:r>
          </a:p>
        </p:txBody>
      </p:sp>
    </p:spTree>
    <p:extLst>
      <p:ext uri="{BB962C8B-B14F-4D97-AF65-F5344CB8AC3E}">
        <p14:creationId xmlns:p14="http://schemas.microsoft.com/office/powerpoint/2010/main" val="2243602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6DB7CA8-3C7F-BF43-8592-840A5DBA757B}"/>
              </a:ext>
            </a:extLst>
          </p:cNvPr>
          <p:cNvSpPr/>
          <p:nvPr/>
        </p:nvSpPr>
        <p:spPr>
          <a:xfrm>
            <a:off x="419126" y="1068783"/>
            <a:ext cx="11353747" cy="3785652"/>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1.1:</a:t>
            </a:r>
          </a:p>
          <a:p>
            <a:r>
              <a:rPr lang="en-US" sz="2400" b="1" dirty="0">
                <a:latin typeface="Arial" panose="020B0604020202020204" pitchFamily="34" charset="0"/>
                <a:cs typeface="Arial" panose="020B0604020202020204" pitchFamily="34" charset="0"/>
              </a:rPr>
              <a:t>Motif find</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Write pseudocode to find the sequence “AAC” in a given sequence.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TCGAATACGGGAT, found = FALSE</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AATTGGTCGAACGA, found = TRUE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Walk through the code to see how the variables change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r>
              <a:rPr lang="en-US" sz="2400" b="1" dirty="0">
                <a:ea typeface="Arial" charset="0"/>
                <a:cs typeface="Arial" charset="0"/>
              </a:rPr>
              <a: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7712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C7D358-108C-A547-A421-80DDB09E82E0}"/>
              </a:ext>
            </a:extLst>
          </p:cNvPr>
          <p:cNvSpPr/>
          <p:nvPr/>
        </p:nvSpPr>
        <p:spPr>
          <a:xfrm>
            <a:off x="1940718" y="474345"/>
            <a:ext cx="8310563" cy="6186309"/>
          </a:xfrm>
          <a:prstGeom prst="rect">
            <a:avLst/>
          </a:prstGeom>
          <a:ln>
            <a:solidFill>
              <a:schemeClr val="tx1"/>
            </a:solidFill>
          </a:ln>
        </p:spPr>
        <p:txBody>
          <a:bodyPr wrap="square">
            <a:spAutoFit/>
          </a:bodyPr>
          <a:lstStyle/>
          <a:p>
            <a:r>
              <a:rPr lang="en-US" b="1" dirty="0"/>
              <a:t>Motif check Pseudocode SOLUTION:</a:t>
            </a:r>
          </a:p>
          <a:p>
            <a:r>
              <a:rPr lang="en-US" dirty="0"/>
              <a:t>__________________</a:t>
            </a:r>
          </a:p>
          <a:p>
            <a:r>
              <a:rPr lang="en-US" dirty="0"/>
              <a:t>Set input parameters: </a:t>
            </a:r>
          </a:p>
          <a:p>
            <a:r>
              <a:rPr lang="en-US" dirty="0"/>
              <a:t>LET sequence = "TCGAACACGGGAT"</a:t>
            </a:r>
          </a:p>
          <a:p>
            <a:r>
              <a:rPr lang="en-US" dirty="0"/>
              <a:t>LET </a:t>
            </a:r>
            <a:r>
              <a:rPr lang="en-US" dirty="0" err="1"/>
              <a:t>search_text</a:t>
            </a:r>
            <a:r>
              <a:rPr lang="en-US" dirty="0"/>
              <a:t> = "AAC"</a:t>
            </a:r>
          </a:p>
          <a:p>
            <a:r>
              <a:rPr lang="en-US" dirty="0"/>
              <a:t>LET </a:t>
            </a:r>
            <a:r>
              <a:rPr lang="en-US" dirty="0" err="1"/>
              <a:t>current_position</a:t>
            </a:r>
            <a:r>
              <a:rPr lang="en-US" dirty="0"/>
              <a:t> = 1</a:t>
            </a:r>
          </a:p>
          <a:p>
            <a:r>
              <a:rPr lang="en-US" dirty="0"/>
              <a:t>LET found = FALSE</a:t>
            </a:r>
          </a:p>
          <a:p>
            <a:endParaRPr lang="en-US" dirty="0"/>
          </a:p>
          <a:p>
            <a:r>
              <a:rPr lang="en-US" dirty="0"/>
              <a:t>REPEAT</a:t>
            </a:r>
          </a:p>
          <a:p>
            <a:r>
              <a:rPr lang="en-US" dirty="0"/>
              <a:t>	LET </a:t>
            </a:r>
            <a:r>
              <a:rPr lang="en-US" dirty="0" err="1"/>
              <a:t>current_text</a:t>
            </a:r>
            <a:r>
              <a:rPr lang="en-US" dirty="0"/>
              <a:t> = sequence[</a:t>
            </a:r>
            <a:r>
              <a:rPr lang="en-US" dirty="0" err="1"/>
              <a:t>current_position</a:t>
            </a:r>
            <a:r>
              <a:rPr lang="en-US" dirty="0"/>
              <a:t> to </a:t>
            </a:r>
            <a:r>
              <a:rPr lang="en-US" dirty="0" err="1"/>
              <a:t>current_position</a:t>
            </a:r>
            <a:r>
              <a:rPr lang="en-US" dirty="0"/>
              <a:t> + 2] </a:t>
            </a:r>
          </a:p>
          <a:p>
            <a:r>
              <a:rPr lang="en-US" dirty="0"/>
              <a:t>	IF </a:t>
            </a:r>
            <a:r>
              <a:rPr lang="en-US" dirty="0" err="1"/>
              <a:t>current_text</a:t>
            </a:r>
            <a:r>
              <a:rPr lang="en-US" dirty="0"/>
              <a:t> IS EQUAL TO </a:t>
            </a:r>
            <a:r>
              <a:rPr lang="en-US" dirty="0" err="1"/>
              <a:t>search_text</a:t>
            </a:r>
            <a:r>
              <a:rPr lang="en-US" dirty="0"/>
              <a:t> THEN </a:t>
            </a:r>
          </a:p>
          <a:p>
            <a:r>
              <a:rPr lang="en-US" dirty="0"/>
              <a:t>		found = TRUE</a:t>
            </a:r>
          </a:p>
          <a:p>
            <a:r>
              <a:rPr lang="en-US" dirty="0"/>
              <a:t>		EXIT REPEAT</a:t>
            </a:r>
          </a:p>
          <a:p>
            <a:r>
              <a:rPr lang="en-US" dirty="0"/>
              <a:t>	</a:t>
            </a:r>
            <a:r>
              <a:rPr lang="en-US" dirty="0" err="1"/>
              <a:t>current_position</a:t>
            </a:r>
            <a:r>
              <a:rPr lang="en-US" dirty="0"/>
              <a:t> = </a:t>
            </a:r>
            <a:r>
              <a:rPr lang="en-US" dirty="0" err="1"/>
              <a:t>current_position</a:t>
            </a:r>
            <a:r>
              <a:rPr lang="en-US" dirty="0"/>
              <a:t> + 1</a:t>
            </a:r>
          </a:p>
          <a:p>
            <a:r>
              <a:rPr lang="en-US" dirty="0"/>
              <a:t>UNTIL </a:t>
            </a:r>
            <a:r>
              <a:rPr lang="en-US" dirty="0" err="1"/>
              <a:t>current_position</a:t>
            </a:r>
            <a:r>
              <a:rPr lang="en-US" dirty="0"/>
              <a:t> &gt; sequence length - 2</a:t>
            </a:r>
          </a:p>
          <a:p>
            <a:r>
              <a:rPr lang="en-US" dirty="0"/>
              <a:t>DISPLAY found</a:t>
            </a:r>
          </a:p>
          <a:p>
            <a:r>
              <a:rPr lang="en-US" dirty="0"/>
              <a:t>_____________________</a:t>
            </a:r>
          </a:p>
          <a:p>
            <a:r>
              <a:rPr lang="en-US" dirty="0"/>
              <a:t>Walk through the code:</a:t>
            </a:r>
          </a:p>
          <a:p>
            <a:r>
              <a:rPr lang="en-US" dirty="0"/>
              <a:t>         REPEAT STEP: 1          2           3             4</a:t>
            </a:r>
          </a:p>
          <a:p>
            <a:r>
              <a:rPr lang="en-US" dirty="0" err="1"/>
              <a:t>current_position</a:t>
            </a:r>
            <a:r>
              <a:rPr lang="en-US" dirty="0"/>
              <a:t> = 1          2           3             4</a:t>
            </a:r>
          </a:p>
          <a:p>
            <a:r>
              <a:rPr lang="en-US" dirty="0"/>
              <a:t>found =                    FALSE  [not changed]    TRUE</a:t>
            </a:r>
          </a:p>
          <a:p>
            <a:r>
              <a:rPr lang="en-US" dirty="0" err="1"/>
              <a:t>current_text</a:t>
            </a:r>
            <a:r>
              <a:rPr lang="en-US" dirty="0"/>
              <a:t> =        TCG      CGA     GAA        AAC</a:t>
            </a:r>
          </a:p>
        </p:txBody>
      </p:sp>
    </p:spTree>
    <p:extLst>
      <p:ext uri="{BB962C8B-B14F-4D97-AF65-F5344CB8AC3E}">
        <p14:creationId xmlns:p14="http://schemas.microsoft.com/office/powerpoint/2010/main" val="1962257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016C7-8123-6867-32E4-29151268087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4703858-EF92-EECC-2020-97B790C08211}"/>
              </a:ext>
            </a:extLst>
          </p:cNvPr>
          <p:cNvSpPr/>
          <p:nvPr/>
        </p:nvSpPr>
        <p:spPr>
          <a:xfrm>
            <a:off x="419126" y="1068783"/>
            <a:ext cx="11353747" cy="3416320"/>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1.2:</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Ask a GenAI tool to write the python code for Exercise 1.1.</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Ask it to explain the code.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TCGAATACGGGAT, index = -1</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AATTGGTCGAACGA, index = 10</a:t>
            </a:r>
          </a:p>
          <a:p>
            <a:r>
              <a:rPr lang="en-US" sz="2400" b="1" dirty="0">
                <a:latin typeface="Arial" panose="020B0604020202020204" pitchFamily="34" charset="0"/>
                <a:cs typeface="Arial" panose="020B0604020202020204" pitchFamily="34" charset="0"/>
              </a:rPr>
              <a:t> </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r>
              <a:rPr lang="en-US" sz="2400" b="1" dirty="0">
                <a:ea typeface="Arial" charset="0"/>
                <a:cs typeface="Arial" charset="0"/>
              </a:rPr>
              <a: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3991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CFDD1-07B9-AEBB-520A-6499AC96F3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8C618F-54B4-B95C-D483-BDFB37C0EC58}"/>
              </a:ext>
            </a:extLst>
          </p:cNvPr>
          <p:cNvSpPr txBox="1"/>
          <p:nvPr/>
        </p:nvSpPr>
        <p:spPr>
          <a:xfrm>
            <a:off x="2879247" y="4457206"/>
            <a:ext cx="6100996" cy="923330"/>
          </a:xfrm>
          <a:prstGeom prst="rect">
            <a:avLst/>
          </a:prstGeom>
          <a:noFill/>
          <a:ln w="28575">
            <a:solidFill>
              <a:schemeClr val="accent2"/>
            </a:solidFill>
          </a:ln>
        </p:spPr>
        <p:txBody>
          <a:bodyPr wrap="square">
            <a:spAutoFit/>
          </a:bodyPr>
          <a:lstStyle/>
          <a:p>
            <a:r>
              <a:rPr lang="en-US" dirty="0"/>
              <a:t>sequence = "TCGAATACGGGAT"</a:t>
            </a:r>
          </a:p>
          <a:p>
            <a:r>
              <a:rPr lang="en-US" dirty="0"/>
              <a:t>print(</a:t>
            </a:r>
            <a:r>
              <a:rPr lang="en-US" dirty="0" err="1"/>
              <a:t>f"Does</a:t>
            </a:r>
            <a:r>
              <a:rPr lang="en-US" dirty="0"/>
              <a:t> the {sequence} contain 'AAC’?”)</a:t>
            </a:r>
          </a:p>
          <a:p>
            <a:r>
              <a:rPr lang="en-US" dirty="0"/>
              <a:t>print("Answer:", "AAC" in sequence)</a:t>
            </a:r>
          </a:p>
        </p:txBody>
      </p:sp>
      <p:sp>
        <p:nvSpPr>
          <p:cNvPr id="5" name="TextBox 4">
            <a:extLst>
              <a:ext uri="{FF2B5EF4-FFF2-40B4-BE49-F238E27FC236}">
                <a16:creationId xmlns:a16="http://schemas.microsoft.com/office/drawing/2014/main" id="{0A320B71-D0BE-0A9E-0FCA-48086019022C}"/>
              </a:ext>
            </a:extLst>
          </p:cNvPr>
          <p:cNvSpPr txBox="1"/>
          <p:nvPr/>
        </p:nvSpPr>
        <p:spPr>
          <a:xfrm>
            <a:off x="1341912" y="486888"/>
            <a:ext cx="9666514" cy="3970318"/>
          </a:xfrm>
          <a:prstGeom prst="rect">
            <a:avLst/>
          </a:prstGeom>
          <a:noFill/>
        </p:spPr>
        <p:txBody>
          <a:bodyPr wrap="square" rtlCol="0">
            <a:spAutoFit/>
          </a:bodyPr>
          <a:lstStyle/>
          <a:p>
            <a:r>
              <a:rPr lang="en-US" b="1" dirty="0"/>
              <a:t>The code can be very simple, use the in operator to check if the motif is in the sequence</a:t>
            </a:r>
          </a:p>
          <a:p>
            <a:endParaRPr lang="en-US" b="1" dirty="0"/>
          </a:p>
          <a:p>
            <a:pPr marL="285750" indent="-285750">
              <a:buFont typeface="Arial" panose="020B0604020202020204" pitchFamily="34" charset="0"/>
              <a:buChar char="•"/>
            </a:pPr>
            <a:r>
              <a:rPr lang="en-US" b="1" dirty="0"/>
              <a:t>Write this code in a </a:t>
            </a:r>
            <a:r>
              <a:rPr lang="en-US" b="1" dirty="0" err="1">
                <a:solidFill>
                  <a:schemeClr val="accent2"/>
                </a:solidFill>
              </a:rPr>
              <a:t>motif_find.py</a:t>
            </a:r>
            <a:r>
              <a:rPr lang="en-US" b="1" dirty="0">
                <a:solidFill>
                  <a:schemeClr val="accent2"/>
                </a:solidFill>
              </a:rPr>
              <a:t> </a:t>
            </a:r>
            <a:r>
              <a:rPr lang="en-US" b="1" dirty="0"/>
              <a:t>file</a:t>
            </a:r>
          </a:p>
          <a:p>
            <a:pPr marL="285750" indent="-285750">
              <a:buFont typeface="Arial" panose="020B0604020202020204" pitchFamily="34" charset="0"/>
              <a:buChar char="•"/>
            </a:pPr>
            <a:r>
              <a:rPr lang="en-US" b="1" dirty="0"/>
              <a:t>Run the file using </a:t>
            </a:r>
            <a:r>
              <a:rPr lang="en-US" sz="1600" dirty="0">
                <a:latin typeface="Menlo" panose="020B0609030804020204" pitchFamily="49" charset="0"/>
                <a:ea typeface="Menlo" panose="020B0609030804020204" pitchFamily="49" charset="0"/>
                <a:cs typeface="Menlo" panose="020B0609030804020204" pitchFamily="49" charset="0"/>
              </a:rPr>
              <a:t>python </a:t>
            </a:r>
            <a:r>
              <a:rPr lang="en-US" sz="1600" dirty="0" err="1">
                <a:latin typeface="Menlo" panose="020B0609030804020204" pitchFamily="49" charset="0"/>
                <a:ea typeface="Menlo" panose="020B0609030804020204" pitchFamily="49" charset="0"/>
                <a:cs typeface="Menlo" panose="020B0609030804020204" pitchFamily="49" charset="0"/>
              </a:rPr>
              <a:t>motif_find.py</a:t>
            </a:r>
            <a:endParaRPr lang="en-US" dirty="0">
              <a:latin typeface="Menlo" panose="020B0609030804020204" pitchFamily="49" charset="0"/>
              <a:ea typeface="Menlo" panose="020B0609030804020204" pitchFamily="49" charset="0"/>
              <a:cs typeface="Menlo" panose="020B0609030804020204" pitchFamily="49" charset="0"/>
            </a:endParaRP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You can also write the code in a code cell in python notebook and run the code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You can also keep only the first three lines (the function) in a </a:t>
            </a:r>
            <a:r>
              <a:rPr lang="en-US" i="1" dirty="0" err="1"/>
              <a:t>check_pattern.py</a:t>
            </a:r>
            <a:r>
              <a:rPr lang="en-US" i="1" dirty="0"/>
              <a:t> </a:t>
            </a:r>
            <a:r>
              <a:rPr lang="en-US" b="1" dirty="0"/>
              <a:t>file/module and then import that (</a:t>
            </a:r>
            <a:r>
              <a:rPr lang="en-US" sz="1600" dirty="0">
                <a:latin typeface="Menlo" panose="020B0609030804020204" pitchFamily="49" charset="0"/>
                <a:ea typeface="Menlo" panose="020B0609030804020204" pitchFamily="49" charset="0"/>
                <a:cs typeface="Menlo" panose="020B0609030804020204" pitchFamily="49" charset="0"/>
              </a:rPr>
              <a:t>import </a:t>
            </a:r>
            <a:r>
              <a:rPr lang="en-US" sz="1600" dirty="0" err="1">
                <a:latin typeface="Menlo" panose="020B0609030804020204" pitchFamily="49" charset="0"/>
                <a:ea typeface="Menlo" panose="020B0609030804020204" pitchFamily="49" charset="0"/>
                <a:cs typeface="Menlo" panose="020B0609030804020204" pitchFamily="49" charset="0"/>
              </a:rPr>
              <a:t>check_pattern</a:t>
            </a:r>
            <a:r>
              <a:rPr lang="en-US" b="1" dirty="0"/>
              <a:t>) in another file/script </a:t>
            </a:r>
            <a:r>
              <a:rPr lang="en-US" i="1" dirty="0" err="1"/>
              <a:t>run_function.py</a:t>
            </a:r>
            <a:r>
              <a:rPr lang="en-US" i="1" dirty="0"/>
              <a:t> </a:t>
            </a:r>
            <a:r>
              <a:rPr lang="en-US" b="1" dirty="0"/>
              <a:t>that also contains the rest of the code (the if statement)</a:t>
            </a:r>
          </a:p>
          <a:p>
            <a:pPr marL="285750" indent="-285750">
              <a:buFont typeface="Arial" panose="020B0604020202020204" pitchFamily="34" charset="0"/>
              <a:buChar char="•"/>
            </a:pPr>
            <a:r>
              <a:rPr lang="en-US" b="1" dirty="0"/>
              <a:t>Running the </a:t>
            </a:r>
            <a:r>
              <a:rPr lang="en-US" b="1" dirty="0" err="1"/>
              <a:t>run_function</a:t>
            </a:r>
            <a:r>
              <a:rPr lang="en-US" b="1" dirty="0"/>
              <a:t> script (</a:t>
            </a:r>
            <a:r>
              <a:rPr lang="en-US" sz="1600" dirty="0">
                <a:latin typeface="Menlo" panose="020B0609030804020204" pitchFamily="49" charset="0"/>
                <a:ea typeface="Menlo" panose="020B0609030804020204" pitchFamily="49" charset="0"/>
                <a:cs typeface="Menlo" panose="020B0609030804020204" pitchFamily="49" charset="0"/>
              </a:rPr>
              <a:t>python </a:t>
            </a:r>
            <a:r>
              <a:rPr lang="en-US" sz="1600" dirty="0" err="1">
                <a:latin typeface="Menlo" panose="020B0609030804020204" pitchFamily="49" charset="0"/>
                <a:ea typeface="Menlo" panose="020B0609030804020204" pitchFamily="49" charset="0"/>
                <a:cs typeface="Menlo" panose="020B0609030804020204" pitchFamily="49" charset="0"/>
              </a:rPr>
              <a:t>run_function.py</a:t>
            </a:r>
            <a:r>
              <a:rPr lang="en-US" b="1" dirty="0"/>
              <a:t>) will import the function from the module and compute and return the result</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94294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8E2E46-AD2D-8B3D-45FC-9EF66DD9637A}"/>
              </a:ext>
            </a:extLst>
          </p:cNvPr>
          <p:cNvPicPr>
            <a:picLocks noChangeAspect="1"/>
          </p:cNvPicPr>
          <p:nvPr/>
        </p:nvPicPr>
        <p:blipFill>
          <a:blip r:embed="rId2"/>
          <a:stretch>
            <a:fillRect/>
          </a:stretch>
        </p:blipFill>
        <p:spPr>
          <a:xfrm>
            <a:off x="5653190" y="285337"/>
            <a:ext cx="5883935" cy="6287325"/>
          </a:xfrm>
          <a:prstGeom prst="rect">
            <a:avLst/>
          </a:prstGeom>
          <a:ln>
            <a:solidFill>
              <a:schemeClr val="tx1"/>
            </a:solidFill>
          </a:ln>
        </p:spPr>
      </p:pic>
      <p:sp>
        <p:nvSpPr>
          <p:cNvPr id="8" name="TextBox 7">
            <a:extLst>
              <a:ext uri="{FF2B5EF4-FFF2-40B4-BE49-F238E27FC236}">
                <a16:creationId xmlns:a16="http://schemas.microsoft.com/office/drawing/2014/main" id="{983B791D-B89F-FD20-62BC-B5C26302A604}"/>
              </a:ext>
            </a:extLst>
          </p:cNvPr>
          <p:cNvSpPr txBox="1"/>
          <p:nvPr/>
        </p:nvSpPr>
        <p:spPr>
          <a:xfrm>
            <a:off x="285007" y="1150914"/>
            <a:ext cx="4583876" cy="3170099"/>
          </a:xfrm>
          <a:prstGeom prst="rect">
            <a:avLst/>
          </a:prstGeom>
          <a:noFill/>
        </p:spPr>
        <p:txBody>
          <a:bodyPr wrap="square" rtlCol="0">
            <a:spAutoFit/>
          </a:bodyPr>
          <a:lstStyle/>
          <a:p>
            <a:r>
              <a:rPr lang="en-US" sz="2000" dirty="0"/>
              <a:t>If you ask Gen AI it will create a function that sets a variable target to the text to search for “AAC”. Then, it uses the in operator with the sequence and the target to check if the target is in the sequence and get a True/False result.</a:t>
            </a:r>
          </a:p>
          <a:p>
            <a:endParaRPr lang="en-US" sz="2000" dirty="0"/>
          </a:p>
          <a:p>
            <a:r>
              <a:rPr lang="en-US" sz="2000" dirty="0"/>
              <a:t>It then calls that function with a given sequence and gets the result which it prints to the screen.</a:t>
            </a:r>
          </a:p>
        </p:txBody>
      </p:sp>
    </p:spTree>
    <p:extLst>
      <p:ext uri="{BB962C8B-B14F-4D97-AF65-F5344CB8AC3E}">
        <p14:creationId xmlns:p14="http://schemas.microsoft.com/office/powerpoint/2010/main" val="406652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550CA-BDEF-B035-F8CE-A58614A22F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4B7DF4-6315-D3D8-8F7E-142C8FF9DF27}"/>
              </a:ext>
            </a:extLst>
          </p:cNvPr>
          <p:cNvSpPr txBox="1"/>
          <p:nvPr/>
        </p:nvSpPr>
        <p:spPr>
          <a:xfrm>
            <a:off x="2902998" y="3696029"/>
            <a:ext cx="6100996" cy="2862322"/>
          </a:xfrm>
          <a:prstGeom prst="rect">
            <a:avLst/>
          </a:prstGeom>
          <a:noFill/>
          <a:ln w="28575">
            <a:solidFill>
              <a:schemeClr val="accent2"/>
            </a:solidFill>
          </a:ln>
        </p:spPr>
        <p:txBody>
          <a:bodyPr wrap="square">
            <a:spAutoFit/>
          </a:bodyPr>
          <a:lstStyle/>
          <a:p>
            <a:r>
              <a:rPr lang="en-US" dirty="0"/>
              <a:t>def </a:t>
            </a:r>
            <a:r>
              <a:rPr lang="en-US" dirty="0" err="1"/>
              <a:t>contains_aac</a:t>
            </a:r>
            <a:r>
              <a:rPr lang="en-US" dirty="0"/>
              <a:t>(sequence):</a:t>
            </a:r>
          </a:p>
          <a:p>
            <a:r>
              <a:rPr lang="en-US" dirty="0"/>
              <a:t>    target = "AAC"</a:t>
            </a:r>
          </a:p>
          <a:p>
            <a:r>
              <a:rPr lang="en-US" dirty="0"/>
              <a:t>    return target in sequence</a:t>
            </a:r>
          </a:p>
          <a:p>
            <a:endParaRPr lang="en-US" dirty="0"/>
          </a:p>
          <a:p>
            <a:r>
              <a:rPr lang="en-US" dirty="0"/>
              <a:t># Example usage</a:t>
            </a:r>
          </a:p>
          <a:p>
            <a:r>
              <a:rPr lang="en-US" dirty="0"/>
              <a:t>sequence = "TCGAATACGGGAT"</a:t>
            </a:r>
          </a:p>
          <a:p>
            <a:r>
              <a:rPr lang="en-US" dirty="0"/>
              <a:t>if </a:t>
            </a:r>
            <a:r>
              <a:rPr lang="en-US" dirty="0" err="1"/>
              <a:t>contains_aac</a:t>
            </a:r>
            <a:r>
              <a:rPr lang="en-US" dirty="0"/>
              <a:t>(sequence):</a:t>
            </a:r>
          </a:p>
          <a:p>
            <a:r>
              <a:rPr lang="en-US" dirty="0"/>
              <a:t>    print("The sequence contains 'AAC'.")</a:t>
            </a:r>
          </a:p>
          <a:p>
            <a:r>
              <a:rPr lang="en-US" dirty="0"/>
              <a:t>else:</a:t>
            </a:r>
          </a:p>
          <a:p>
            <a:r>
              <a:rPr lang="en-US" dirty="0"/>
              <a:t>    print("The sequence does not contain 'AAC'.")</a:t>
            </a:r>
          </a:p>
        </p:txBody>
      </p:sp>
      <p:sp>
        <p:nvSpPr>
          <p:cNvPr id="5" name="TextBox 4">
            <a:extLst>
              <a:ext uri="{FF2B5EF4-FFF2-40B4-BE49-F238E27FC236}">
                <a16:creationId xmlns:a16="http://schemas.microsoft.com/office/drawing/2014/main" id="{EDC25179-7F1C-734B-980C-29B5C84A82B8}"/>
              </a:ext>
            </a:extLst>
          </p:cNvPr>
          <p:cNvSpPr txBox="1"/>
          <p:nvPr/>
        </p:nvSpPr>
        <p:spPr>
          <a:xfrm>
            <a:off x="1341912" y="486888"/>
            <a:ext cx="9666514" cy="3416320"/>
          </a:xfrm>
          <a:prstGeom prst="rect">
            <a:avLst/>
          </a:prstGeom>
          <a:noFill/>
        </p:spPr>
        <p:txBody>
          <a:bodyPr wrap="square" rtlCol="0">
            <a:spAutoFit/>
          </a:bodyPr>
          <a:lstStyle/>
          <a:p>
            <a:pPr marL="285750" indent="-285750">
              <a:buFont typeface="Arial" panose="020B0604020202020204" pitchFamily="34" charset="0"/>
              <a:buChar char="•"/>
            </a:pPr>
            <a:r>
              <a:rPr lang="en-US" b="1" dirty="0"/>
              <a:t>Write this code in a </a:t>
            </a:r>
            <a:r>
              <a:rPr lang="en-US" b="1" dirty="0" err="1">
                <a:solidFill>
                  <a:schemeClr val="accent2"/>
                </a:solidFill>
              </a:rPr>
              <a:t>motif_find.py</a:t>
            </a:r>
            <a:r>
              <a:rPr lang="en-US" b="1" dirty="0">
                <a:solidFill>
                  <a:schemeClr val="accent2"/>
                </a:solidFill>
              </a:rPr>
              <a:t> </a:t>
            </a:r>
            <a:r>
              <a:rPr lang="en-US" b="1" dirty="0"/>
              <a:t>file</a:t>
            </a:r>
          </a:p>
          <a:p>
            <a:pPr marL="285750" indent="-285750">
              <a:buFont typeface="Arial" panose="020B0604020202020204" pitchFamily="34" charset="0"/>
              <a:buChar char="•"/>
            </a:pPr>
            <a:r>
              <a:rPr lang="en-US" b="1" dirty="0"/>
              <a:t>Run the file using </a:t>
            </a:r>
            <a:r>
              <a:rPr lang="en-US" sz="1600" dirty="0">
                <a:latin typeface="Menlo" panose="020B0609030804020204" pitchFamily="49" charset="0"/>
                <a:ea typeface="Menlo" panose="020B0609030804020204" pitchFamily="49" charset="0"/>
                <a:cs typeface="Menlo" panose="020B0609030804020204" pitchFamily="49" charset="0"/>
              </a:rPr>
              <a:t>python </a:t>
            </a:r>
            <a:r>
              <a:rPr lang="en-US" sz="1600" dirty="0" err="1">
                <a:latin typeface="Menlo" panose="020B0609030804020204" pitchFamily="49" charset="0"/>
                <a:ea typeface="Menlo" panose="020B0609030804020204" pitchFamily="49" charset="0"/>
                <a:cs typeface="Menlo" panose="020B0609030804020204" pitchFamily="49" charset="0"/>
              </a:rPr>
              <a:t>motif_find.py</a:t>
            </a:r>
            <a:endParaRPr lang="en-US" dirty="0">
              <a:latin typeface="Menlo" panose="020B0609030804020204" pitchFamily="49" charset="0"/>
              <a:ea typeface="Menlo" panose="020B0609030804020204" pitchFamily="49" charset="0"/>
              <a:cs typeface="Menlo" panose="020B0609030804020204" pitchFamily="49" charset="0"/>
            </a:endParaRP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You can also write the code in a code cell in python notebook and run the code</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You can also keep only the first three lines (the function) in a </a:t>
            </a:r>
            <a:r>
              <a:rPr lang="en-US" i="1" dirty="0" err="1"/>
              <a:t>check_pattern.py</a:t>
            </a:r>
            <a:r>
              <a:rPr lang="en-US" i="1" dirty="0"/>
              <a:t> </a:t>
            </a:r>
            <a:r>
              <a:rPr lang="en-US" b="1" dirty="0"/>
              <a:t>file/module and then import that (</a:t>
            </a:r>
            <a:r>
              <a:rPr lang="en-US" sz="1600" dirty="0">
                <a:latin typeface="Menlo" panose="020B0609030804020204" pitchFamily="49" charset="0"/>
                <a:ea typeface="Menlo" panose="020B0609030804020204" pitchFamily="49" charset="0"/>
                <a:cs typeface="Menlo" panose="020B0609030804020204" pitchFamily="49" charset="0"/>
              </a:rPr>
              <a:t>import </a:t>
            </a:r>
            <a:r>
              <a:rPr lang="en-US" sz="1600" dirty="0" err="1">
                <a:latin typeface="Menlo" panose="020B0609030804020204" pitchFamily="49" charset="0"/>
                <a:ea typeface="Menlo" panose="020B0609030804020204" pitchFamily="49" charset="0"/>
                <a:cs typeface="Menlo" panose="020B0609030804020204" pitchFamily="49" charset="0"/>
              </a:rPr>
              <a:t>check_pattern</a:t>
            </a:r>
            <a:r>
              <a:rPr lang="en-US" b="1" dirty="0"/>
              <a:t>) in another file/script </a:t>
            </a:r>
            <a:r>
              <a:rPr lang="en-US" i="1" dirty="0" err="1"/>
              <a:t>run_function.py</a:t>
            </a:r>
            <a:r>
              <a:rPr lang="en-US" i="1" dirty="0"/>
              <a:t> </a:t>
            </a:r>
            <a:r>
              <a:rPr lang="en-US" b="1" dirty="0"/>
              <a:t>that also contains the rest of the code (the if statement)</a:t>
            </a:r>
          </a:p>
          <a:p>
            <a:pPr marL="285750" indent="-285750">
              <a:buFont typeface="Arial" panose="020B0604020202020204" pitchFamily="34" charset="0"/>
              <a:buChar char="•"/>
            </a:pPr>
            <a:r>
              <a:rPr lang="en-US" b="1" dirty="0"/>
              <a:t>Running the </a:t>
            </a:r>
            <a:r>
              <a:rPr lang="en-US" b="1" dirty="0" err="1"/>
              <a:t>run_function</a:t>
            </a:r>
            <a:r>
              <a:rPr lang="en-US" b="1" dirty="0"/>
              <a:t> script (</a:t>
            </a:r>
            <a:r>
              <a:rPr lang="en-US" sz="1600" dirty="0">
                <a:latin typeface="Menlo" panose="020B0609030804020204" pitchFamily="49" charset="0"/>
                <a:ea typeface="Menlo" panose="020B0609030804020204" pitchFamily="49" charset="0"/>
                <a:cs typeface="Menlo" panose="020B0609030804020204" pitchFamily="49" charset="0"/>
              </a:rPr>
              <a:t>python </a:t>
            </a:r>
            <a:r>
              <a:rPr lang="en-US" sz="1600" dirty="0" err="1">
                <a:latin typeface="Menlo" panose="020B0609030804020204" pitchFamily="49" charset="0"/>
                <a:ea typeface="Menlo" panose="020B0609030804020204" pitchFamily="49" charset="0"/>
                <a:cs typeface="Menlo" panose="020B0609030804020204" pitchFamily="49" charset="0"/>
              </a:rPr>
              <a:t>run_function.py</a:t>
            </a:r>
            <a:r>
              <a:rPr lang="en-US" b="1" dirty="0"/>
              <a:t>) will import the function from the module and compute and return the result</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3360097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5D3DA-0766-63CD-6645-C765AF8BB79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C134A18-5DEA-3A1C-CF70-B814159E6D06}"/>
              </a:ext>
            </a:extLst>
          </p:cNvPr>
          <p:cNvPicPr>
            <a:picLocks noChangeAspect="1"/>
          </p:cNvPicPr>
          <p:nvPr/>
        </p:nvPicPr>
        <p:blipFill>
          <a:blip r:embed="rId2"/>
          <a:stretch>
            <a:fillRect/>
          </a:stretch>
        </p:blipFill>
        <p:spPr>
          <a:xfrm>
            <a:off x="5434942" y="161462"/>
            <a:ext cx="6115791" cy="6535076"/>
          </a:xfrm>
          <a:prstGeom prst="rect">
            <a:avLst/>
          </a:prstGeom>
          <a:ln>
            <a:solidFill>
              <a:schemeClr val="tx1"/>
            </a:solidFill>
          </a:ln>
        </p:spPr>
      </p:pic>
      <p:sp>
        <p:nvSpPr>
          <p:cNvPr id="2" name="TextBox 1">
            <a:extLst>
              <a:ext uri="{FF2B5EF4-FFF2-40B4-BE49-F238E27FC236}">
                <a16:creationId xmlns:a16="http://schemas.microsoft.com/office/drawing/2014/main" id="{7ED09835-6D1B-7A88-ED98-7A0BF8243FF1}"/>
              </a:ext>
            </a:extLst>
          </p:cNvPr>
          <p:cNvSpPr txBox="1"/>
          <p:nvPr/>
        </p:nvSpPr>
        <p:spPr>
          <a:xfrm>
            <a:off x="285007" y="1150914"/>
            <a:ext cx="4583876" cy="1938992"/>
          </a:xfrm>
          <a:prstGeom prst="rect">
            <a:avLst/>
          </a:prstGeom>
          <a:noFill/>
        </p:spPr>
        <p:txBody>
          <a:bodyPr wrap="square" rtlCol="0">
            <a:spAutoFit/>
          </a:bodyPr>
          <a:lstStyle/>
          <a:p>
            <a:r>
              <a:rPr lang="en-US" sz="2000" dirty="0"/>
              <a:t>If you ask Gen AI and are not specific enough, you get an algorithm that looks for AAC starting at every position in the sequence, checks every three nucleotides and finds all the indices (0-based) where the codon AAC starts.</a:t>
            </a:r>
          </a:p>
        </p:txBody>
      </p:sp>
    </p:spTree>
    <p:extLst>
      <p:ext uri="{BB962C8B-B14F-4D97-AF65-F5344CB8AC3E}">
        <p14:creationId xmlns:p14="http://schemas.microsoft.com/office/powerpoint/2010/main" val="2734051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9EAD6-4969-194D-55C8-5F132D8AFF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30B8C5-7949-F9BF-1140-AED77F9A4232}"/>
              </a:ext>
            </a:extLst>
          </p:cNvPr>
          <p:cNvSpPr txBox="1"/>
          <p:nvPr/>
        </p:nvSpPr>
        <p:spPr>
          <a:xfrm>
            <a:off x="2327563" y="2123795"/>
            <a:ext cx="8526483" cy="3785652"/>
          </a:xfrm>
          <a:prstGeom prst="rect">
            <a:avLst/>
          </a:prstGeom>
          <a:noFill/>
          <a:ln w="28575">
            <a:solidFill>
              <a:schemeClr val="accent2"/>
            </a:solidFill>
          </a:ln>
        </p:spPr>
        <p:txBody>
          <a:bodyPr wrap="square">
            <a:spAutoFit/>
          </a:bodyPr>
          <a:lstStyle/>
          <a:p>
            <a:r>
              <a:rPr lang="en-US" sz="1600" dirty="0">
                <a:latin typeface="Menlo" panose="020B0609030804020204" pitchFamily="49" charset="0"/>
                <a:ea typeface="Menlo" panose="020B0609030804020204" pitchFamily="49" charset="0"/>
                <a:cs typeface="Menlo" panose="020B0609030804020204" pitchFamily="49" charset="0"/>
              </a:rPr>
              <a:t># Define the sequence</a:t>
            </a:r>
          </a:p>
          <a:p>
            <a:r>
              <a:rPr lang="en-US" sz="1600" dirty="0">
                <a:latin typeface="Menlo" panose="020B0609030804020204" pitchFamily="49" charset="0"/>
                <a:ea typeface="Menlo" panose="020B0609030804020204" pitchFamily="49" charset="0"/>
                <a:cs typeface="Menlo" panose="020B0609030804020204" pitchFamily="49" charset="0"/>
              </a:rPr>
              <a:t>sequence = "TCGAATACGGGAT"</a:t>
            </a:r>
          </a:p>
          <a:p>
            <a:r>
              <a:rPr lang="en-US" sz="1600" dirty="0">
                <a:latin typeface="Menlo" panose="020B0609030804020204" pitchFamily="49" charset="0"/>
                <a:ea typeface="Menlo" panose="020B0609030804020204" pitchFamily="49" charset="0"/>
                <a:cs typeface="Menlo" panose="020B0609030804020204" pitchFamily="49" charset="0"/>
              </a:rPr>
              <a:t>pattern = "AAC"</a:t>
            </a:r>
          </a:p>
          <a:p>
            <a:endParaRPr lang="en-US" sz="1600" dirty="0">
              <a:latin typeface="Menlo" panose="020B0609030804020204" pitchFamily="49" charset="0"/>
              <a:ea typeface="Menlo" panose="020B0609030804020204" pitchFamily="49" charset="0"/>
              <a:cs typeface="Menlo" panose="020B0609030804020204" pitchFamily="49" charset="0"/>
            </a:endParaRPr>
          </a:p>
          <a:p>
            <a:r>
              <a:rPr lang="en-US" sz="1600" dirty="0">
                <a:latin typeface="Menlo" panose="020B0609030804020204" pitchFamily="49" charset="0"/>
                <a:ea typeface="Menlo" panose="020B0609030804020204" pitchFamily="49" charset="0"/>
                <a:cs typeface="Menlo" panose="020B0609030804020204" pitchFamily="49" charset="0"/>
              </a:rPr>
              <a:t># Find all occurrences of "AAC"</a:t>
            </a:r>
          </a:p>
          <a:p>
            <a:r>
              <a:rPr lang="en-US" sz="1600" dirty="0">
                <a:latin typeface="Menlo" panose="020B0609030804020204" pitchFamily="49" charset="0"/>
                <a:ea typeface="Menlo" panose="020B0609030804020204" pitchFamily="49" charset="0"/>
                <a:cs typeface="Menlo" panose="020B0609030804020204" pitchFamily="49" charset="0"/>
              </a:rPr>
              <a:t>positions = []</a:t>
            </a:r>
          </a:p>
          <a:p>
            <a:r>
              <a:rPr lang="en-US" sz="1600" dirty="0">
                <a:latin typeface="Menlo" panose="020B0609030804020204" pitchFamily="49" charset="0"/>
                <a:ea typeface="Menlo" panose="020B0609030804020204" pitchFamily="49" charset="0"/>
                <a:cs typeface="Menlo" panose="020B0609030804020204" pitchFamily="49" charset="0"/>
              </a:rPr>
              <a:t>for </a:t>
            </a:r>
            <a:r>
              <a:rPr lang="en-US" sz="1600" dirty="0" err="1">
                <a:latin typeface="Menlo" panose="020B0609030804020204" pitchFamily="49" charset="0"/>
                <a:ea typeface="Menlo" panose="020B0609030804020204" pitchFamily="49" charset="0"/>
                <a:cs typeface="Menlo" panose="020B0609030804020204" pitchFamily="49" charset="0"/>
              </a:rPr>
              <a:t>i</a:t>
            </a:r>
            <a:r>
              <a:rPr lang="en-US" sz="1600" dirty="0">
                <a:latin typeface="Menlo" panose="020B0609030804020204" pitchFamily="49" charset="0"/>
                <a:ea typeface="Menlo" panose="020B0609030804020204" pitchFamily="49" charset="0"/>
                <a:cs typeface="Menlo" panose="020B0609030804020204" pitchFamily="49" charset="0"/>
              </a:rPr>
              <a:t> in range(</a:t>
            </a:r>
            <a:r>
              <a:rPr lang="en-US" sz="1600" dirty="0" err="1">
                <a:latin typeface="Menlo" panose="020B0609030804020204" pitchFamily="49" charset="0"/>
                <a:ea typeface="Menlo" panose="020B0609030804020204" pitchFamily="49" charset="0"/>
                <a:cs typeface="Menlo" panose="020B0609030804020204" pitchFamily="49" charset="0"/>
              </a:rPr>
              <a:t>len</a:t>
            </a:r>
            <a:r>
              <a:rPr lang="en-US" sz="1600" dirty="0">
                <a:latin typeface="Menlo" panose="020B0609030804020204" pitchFamily="49" charset="0"/>
                <a:ea typeface="Menlo" panose="020B0609030804020204" pitchFamily="49" charset="0"/>
                <a:cs typeface="Menlo" panose="020B0609030804020204" pitchFamily="49" charset="0"/>
              </a:rPr>
              <a:t>(sequence) - </a:t>
            </a:r>
            <a:r>
              <a:rPr lang="en-US" sz="1600" dirty="0" err="1">
                <a:latin typeface="Menlo" panose="020B0609030804020204" pitchFamily="49" charset="0"/>
                <a:ea typeface="Menlo" panose="020B0609030804020204" pitchFamily="49" charset="0"/>
                <a:cs typeface="Menlo" panose="020B0609030804020204" pitchFamily="49" charset="0"/>
              </a:rPr>
              <a:t>len</a:t>
            </a:r>
            <a:r>
              <a:rPr lang="en-US" sz="1600" dirty="0">
                <a:latin typeface="Menlo" panose="020B0609030804020204" pitchFamily="49" charset="0"/>
                <a:ea typeface="Menlo" panose="020B0609030804020204" pitchFamily="49" charset="0"/>
                <a:cs typeface="Menlo" panose="020B0609030804020204" pitchFamily="49" charset="0"/>
              </a:rPr>
              <a:t>(pattern) + 1):</a:t>
            </a:r>
          </a:p>
          <a:p>
            <a:r>
              <a:rPr lang="en-US" sz="1600" dirty="0">
                <a:latin typeface="Menlo" panose="020B0609030804020204" pitchFamily="49" charset="0"/>
                <a:ea typeface="Menlo" panose="020B0609030804020204" pitchFamily="49" charset="0"/>
                <a:cs typeface="Menlo" panose="020B0609030804020204" pitchFamily="49" charset="0"/>
              </a:rPr>
              <a:t>    if sequence[</a:t>
            </a:r>
            <a:r>
              <a:rPr lang="en-US" sz="1600" dirty="0" err="1">
                <a:latin typeface="Menlo" panose="020B0609030804020204" pitchFamily="49" charset="0"/>
                <a:ea typeface="Menlo" panose="020B0609030804020204" pitchFamily="49" charset="0"/>
                <a:cs typeface="Menlo" panose="020B0609030804020204" pitchFamily="49" charset="0"/>
              </a:rPr>
              <a:t>i:i+len</a:t>
            </a:r>
            <a:r>
              <a:rPr lang="en-US" sz="1600" dirty="0">
                <a:latin typeface="Menlo" panose="020B0609030804020204" pitchFamily="49" charset="0"/>
                <a:ea typeface="Menlo" panose="020B0609030804020204" pitchFamily="49" charset="0"/>
                <a:cs typeface="Menlo" panose="020B0609030804020204" pitchFamily="49" charset="0"/>
              </a:rPr>
              <a:t>(pattern)] == pattern:</a:t>
            </a:r>
          </a:p>
          <a:p>
            <a:r>
              <a:rPr lang="en-US" sz="1600" dirty="0">
                <a:latin typeface="Menlo" panose="020B0609030804020204" pitchFamily="49" charset="0"/>
                <a:ea typeface="Menlo" panose="020B0609030804020204" pitchFamily="49" charset="0"/>
                <a:cs typeface="Menlo" panose="020B0609030804020204" pitchFamily="49" charset="0"/>
              </a:rPr>
              <a:t>        </a:t>
            </a:r>
            <a:r>
              <a:rPr lang="en-US" sz="1600" dirty="0" err="1">
                <a:latin typeface="Menlo" panose="020B0609030804020204" pitchFamily="49" charset="0"/>
                <a:ea typeface="Menlo" panose="020B0609030804020204" pitchFamily="49" charset="0"/>
                <a:cs typeface="Menlo" panose="020B0609030804020204" pitchFamily="49" charset="0"/>
              </a:rPr>
              <a:t>positions.append</a:t>
            </a:r>
            <a:r>
              <a:rPr lang="en-US" sz="1600" dirty="0">
                <a:latin typeface="Menlo" panose="020B0609030804020204" pitchFamily="49" charset="0"/>
                <a:ea typeface="Menlo" panose="020B0609030804020204" pitchFamily="49" charset="0"/>
                <a:cs typeface="Menlo" panose="020B0609030804020204" pitchFamily="49" charset="0"/>
              </a:rPr>
              <a:t>(</a:t>
            </a:r>
            <a:r>
              <a:rPr lang="en-US" sz="1600" dirty="0" err="1">
                <a:latin typeface="Menlo" panose="020B0609030804020204" pitchFamily="49" charset="0"/>
                <a:ea typeface="Menlo" panose="020B0609030804020204" pitchFamily="49" charset="0"/>
                <a:cs typeface="Menlo" panose="020B0609030804020204" pitchFamily="49" charset="0"/>
              </a:rPr>
              <a:t>i</a:t>
            </a:r>
            <a:r>
              <a:rPr lang="en-US" sz="1600" dirty="0">
                <a:latin typeface="Menlo" panose="020B0609030804020204" pitchFamily="49" charset="0"/>
                <a:ea typeface="Menlo" panose="020B0609030804020204" pitchFamily="49" charset="0"/>
                <a:cs typeface="Menlo" panose="020B0609030804020204" pitchFamily="49" charset="0"/>
              </a:rPr>
              <a:t>)</a:t>
            </a:r>
          </a:p>
          <a:p>
            <a:endParaRPr lang="en-US" sz="1600" dirty="0">
              <a:latin typeface="Menlo" panose="020B0609030804020204" pitchFamily="49" charset="0"/>
              <a:ea typeface="Menlo" panose="020B0609030804020204" pitchFamily="49" charset="0"/>
              <a:cs typeface="Menlo" panose="020B0609030804020204" pitchFamily="49" charset="0"/>
            </a:endParaRPr>
          </a:p>
          <a:p>
            <a:r>
              <a:rPr lang="en-US" sz="1600" dirty="0">
                <a:latin typeface="Menlo" panose="020B0609030804020204" pitchFamily="49" charset="0"/>
                <a:ea typeface="Menlo" panose="020B0609030804020204" pitchFamily="49" charset="0"/>
                <a:cs typeface="Menlo" panose="020B0609030804020204" pitchFamily="49" charset="0"/>
              </a:rPr>
              <a:t># Print results</a:t>
            </a:r>
          </a:p>
          <a:p>
            <a:r>
              <a:rPr lang="en-US" sz="1600" dirty="0">
                <a:latin typeface="Menlo" panose="020B0609030804020204" pitchFamily="49" charset="0"/>
                <a:ea typeface="Menlo" panose="020B0609030804020204" pitchFamily="49" charset="0"/>
                <a:cs typeface="Menlo" panose="020B0609030804020204" pitchFamily="49" charset="0"/>
              </a:rPr>
              <a:t>if positions:</a:t>
            </a:r>
          </a:p>
          <a:p>
            <a:r>
              <a:rPr lang="en-US" sz="1600" dirty="0">
                <a:latin typeface="Menlo" panose="020B0609030804020204" pitchFamily="49" charset="0"/>
                <a:ea typeface="Menlo" panose="020B0609030804020204" pitchFamily="49" charset="0"/>
                <a:cs typeface="Menlo" panose="020B0609030804020204" pitchFamily="49" charset="0"/>
              </a:rPr>
              <a:t>    print(</a:t>
            </a:r>
            <a:r>
              <a:rPr lang="en-US" sz="1600" dirty="0" err="1">
                <a:latin typeface="Menlo" panose="020B0609030804020204" pitchFamily="49" charset="0"/>
                <a:ea typeface="Menlo" panose="020B0609030804020204" pitchFamily="49" charset="0"/>
                <a:cs typeface="Menlo" panose="020B0609030804020204" pitchFamily="49" charset="0"/>
              </a:rPr>
              <a:t>f"Pattern</a:t>
            </a:r>
            <a:r>
              <a:rPr lang="en-US" sz="1600" dirty="0">
                <a:latin typeface="Menlo" panose="020B0609030804020204" pitchFamily="49" charset="0"/>
                <a:ea typeface="Menlo" panose="020B0609030804020204" pitchFamily="49" charset="0"/>
                <a:cs typeface="Menlo" panose="020B0609030804020204" pitchFamily="49" charset="0"/>
              </a:rPr>
              <a:t> '{pattern}' found at positions: {positions}")</a:t>
            </a:r>
          </a:p>
          <a:p>
            <a:r>
              <a:rPr lang="en-US" sz="1600" dirty="0">
                <a:latin typeface="Menlo" panose="020B0609030804020204" pitchFamily="49" charset="0"/>
                <a:ea typeface="Menlo" panose="020B0609030804020204" pitchFamily="49" charset="0"/>
                <a:cs typeface="Menlo" panose="020B0609030804020204" pitchFamily="49" charset="0"/>
              </a:rPr>
              <a:t>else:</a:t>
            </a:r>
          </a:p>
          <a:p>
            <a:r>
              <a:rPr lang="en-US" sz="1600" dirty="0">
                <a:latin typeface="Menlo" panose="020B0609030804020204" pitchFamily="49" charset="0"/>
                <a:ea typeface="Menlo" panose="020B0609030804020204" pitchFamily="49" charset="0"/>
                <a:cs typeface="Menlo" panose="020B0609030804020204" pitchFamily="49" charset="0"/>
              </a:rPr>
              <a:t>    print(</a:t>
            </a:r>
            <a:r>
              <a:rPr lang="en-US" sz="1600" dirty="0" err="1">
                <a:latin typeface="Menlo" panose="020B0609030804020204" pitchFamily="49" charset="0"/>
                <a:ea typeface="Menlo" panose="020B0609030804020204" pitchFamily="49" charset="0"/>
                <a:cs typeface="Menlo" panose="020B0609030804020204" pitchFamily="49" charset="0"/>
              </a:rPr>
              <a:t>f"Pattern</a:t>
            </a:r>
            <a:r>
              <a:rPr lang="en-US" sz="1600" dirty="0">
                <a:latin typeface="Menlo" panose="020B0609030804020204" pitchFamily="49" charset="0"/>
                <a:ea typeface="Menlo" panose="020B0609030804020204" pitchFamily="49" charset="0"/>
                <a:cs typeface="Menlo" panose="020B0609030804020204" pitchFamily="49" charset="0"/>
              </a:rPr>
              <a:t> '{pattern}' not found in the sequence.")</a:t>
            </a:r>
          </a:p>
        </p:txBody>
      </p:sp>
      <p:sp>
        <p:nvSpPr>
          <p:cNvPr id="5" name="TextBox 4">
            <a:extLst>
              <a:ext uri="{FF2B5EF4-FFF2-40B4-BE49-F238E27FC236}">
                <a16:creationId xmlns:a16="http://schemas.microsoft.com/office/drawing/2014/main" id="{68CDEC3F-C74F-D86D-C647-8119A3739EF3}"/>
              </a:ext>
            </a:extLst>
          </p:cNvPr>
          <p:cNvSpPr txBox="1"/>
          <p:nvPr/>
        </p:nvSpPr>
        <p:spPr>
          <a:xfrm>
            <a:off x="1341912" y="486888"/>
            <a:ext cx="7986225" cy="1477328"/>
          </a:xfrm>
          <a:prstGeom prst="rect">
            <a:avLst/>
          </a:prstGeom>
          <a:noFill/>
        </p:spPr>
        <p:txBody>
          <a:bodyPr wrap="none" rtlCol="0">
            <a:spAutoFit/>
          </a:bodyPr>
          <a:lstStyle/>
          <a:p>
            <a:pPr marL="285750" indent="-285750">
              <a:buFont typeface="Arial" panose="020B0604020202020204" pitchFamily="34" charset="0"/>
              <a:buChar char="•"/>
            </a:pPr>
            <a:r>
              <a:rPr lang="en-US" b="1" dirty="0"/>
              <a:t>Write this code in a </a:t>
            </a:r>
            <a:r>
              <a:rPr lang="en-US" b="1" dirty="0" err="1">
                <a:solidFill>
                  <a:schemeClr val="accent2"/>
                </a:solidFill>
              </a:rPr>
              <a:t>motif_find_indices.py</a:t>
            </a:r>
            <a:r>
              <a:rPr lang="en-US" b="1" dirty="0">
                <a:solidFill>
                  <a:schemeClr val="accent2"/>
                </a:solidFill>
              </a:rPr>
              <a:t> </a:t>
            </a:r>
            <a:r>
              <a:rPr lang="en-US" b="1" dirty="0"/>
              <a:t>file</a:t>
            </a:r>
          </a:p>
          <a:p>
            <a:pPr marL="285750" indent="-285750">
              <a:buFont typeface="Arial" panose="020B0604020202020204" pitchFamily="34" charset="0"/>
              <a:buChar char="•"/>
            </a:pPr>
            <a:r>
              <a:rPr lang="en-US" b="1" dirty="0"/>
              <a:t>Run the file using </a:t>
            </a:r>
            <a:r>
              <a:rPr lang="en-US" sz="1700" dirty="0">
                <a:latin typeface="Menlo" panose="020B0609030804020204" pitchFamily="49" charset="0"/>
                <a:ea typeface="Menlo" panose="020B0609030804020204" pitchFamily="49" charset="0"/>
                <a:cs typeface="Menlo" panose="020B0609030804020204" pitchFamily="49" charset="0"/>
              </a:rPr>
              <a:t>python </a:t>
            </a:r>
            <a:r>
              <a:rPr lang="en-US" sz="1700" dirty="0" err="1">
                <a:latin typeface="Menlo" panose="020B0609030804020204" pitchFamily="49" charset="0"/>
                <a:ea typeface="Menlo" panose="020B0609030804020204" pitchFamily="49" charset="0"/>
                <a:cs typeface="Menlo" panose="020B0609030804020204" pitchFamily="49" charset="0"/>
              </a:rPr>
              <a:t>motif_find_indices.py</a:t>
            </a:r>
            <a:endParaRPr lang="en-US" sz="1700" dirty="0">
              <a:latin typeface="Menlo" panose="020B0609030804020204" pitchFamily="49" charset="0"/>
              <a:ea typeface="Menlo" panose="020B0609030804020204" pitchFamily="49" charset="0"/>
              <a:cs typeface="Menlo" panose="020B0609030804020204" pitchFamily="49" charset="0"/>
            </a:endParaRP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You can also write the code in a code cell in python notebook and run the code</a:t>
            </a:r>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1999429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BE25A-C4AB-C53D-B5A0-A31297A6C76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478944D-FCFA-A215-1D88-9B8C7B8EA767}"/>
              </a:ext>
            </a:extLst>
          </p:cNvPr>
          <p:cNvSpPr/>
          <p:nvPr/>
        </p:nvSpPr>
        <p:spPr>
          <a:xfrm>
            <a:off x="419126" y="1068783"/>
            <a:ext cx="11353747" cy="4893647"/>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1.2:</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See if you can change the python code that checks for the presence of the motif to find the position where the first occurrence of the the sequence “AAC” in a given sequence.</a:t>
            </a:r>
          </a:p>
          <a:p>
            <a:r>
              <a:rPr lang="en-US" sz="2400" dirty="0">
                <a:latin typeface="Arial" panose="020B0604020202020204" pitchFamily="34" charset="0"/>
                <a:cs typeface="Arial" panose="020B0604020202020204" pitchFamily="34" charset="0"/>
              </a:rPr>
              <a:t>	– indices start from 0 in python so add 1 to get the position</a:t>
            </a:r>
          </a:p>
          <a:p>
            <a:pPr lvl="2"/>
            <a:r>
              <a:rPr lang="en-US" sz="2400" b="1" dirty="0"/>
              <a:t>– </a:t>
            </a:r>
            <a:r>
              <a:rPr lang="en-US" sz="2400" dirty="0"/>
              <a:t>There are string function that already implement the functionality we need in python</a:t>
            </a:r>
          </a:p>
          <a:p>
            <a:pPr lvl="2"/>
            <a:r>
              <a:rPr lang="en-US" sz="2400" dirty="0">
                <a:hlinkClick r:id="rId2"/>
              </a:rPr>
              <a:t>https://docs.python.org/3/library/stdtypes.html#string-methods</a:t>
            </a:r>
            <a:endParaRPr lang="en-US" sz="2400" dirty="0"/>
          </a:p>
          <a:p>
            <a:r>
              <a:rPr lang="en-US" sz="2400" dirty="0"/>
              <a:t>	Note: look at the .find and .index functions</a:t>
            </a:r>
          </a:p>
          <a:p>
            <a:endParaRPr lang="en-US" sz="2400" dirty="0"/>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TCGAATACGGGAT, index = 0 # 0 if not found</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AATTGGTCGAACGA, index = 10</a:t>
            </a:r>
          </a:p>
          <a:p>
            <a:endParaRPr lang="en-US" sz="2400" dirty="0"/>
          </a:p>
        </p:txBody>
      </p:sp>
    </p:spTree>
    <p:extLst>
      <p:ext uri="{BB962C8B-B14F-4D97-AF65-F5344CB8AC3E}">
        <p14:creationId xmlns:p14="http://schemas.microsoft.com/office/powerpoint/2010/main" val="2703539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C1546-23B9-3158-A07B-4E55293836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9861A6-DCE0-6672-848E-173FC8C89A90}"/>
              </a:ext>
            </a:extLst>
          </p:cNvPr>
          <p:cNvSpPr txBox="1"/>
          <p:nvPr/>
        </p:nvSpPr>
        <p:spPr>
          <a:xfrm>
            <a:off x="459522" y="3300767"/>
            <a:ext cx="5727522" cy="2062103"/>
          </a:xfrm>
          <a:prstGeom prst="rect">
            <a:avLst/>
          </a:prstGeom>
          <a:noFill/>
          <a:ln w="28575">
            <a:solidFill>
              <a:schemeClr val="accent2"/>
            </a:solidFill>
          </a:ln>
        </p:spPr>
        <p:txBody>
          <a:bodyPr wrap="square">
            <a:spAutoFit/>
          </a:bodyPr>
          <a:lstStyle/>
          <a:p>
            <a:r>
              <a:rPr lang="en-US" sz="1600" dirty="0">
                <a:latin typeface="Menlo" panose="020B0609030804020204" pitchFamily="49" charset="0"/>
                <a:ea typeface="Menlo" panose="020B0609030804020204" pitchFamily="49" charset="0"/>
                <a:cs typeface="Menlo" panose="020B0609030804020204" pitchFamily="49" charset="0"/>
              </a:rPr>
              <a:t># Define the sequence</a:t>
            </a:r>
          </a:p>
          <a:p>
            <a:r>
              <a:rPr lang="en-US" sz="1600" dirty="0">
                <a:latin typeface="Menlo" panose="020B0609030804020204" pitchFamily="49" charset="0"/>
                <a:ea typeface="Menlo" panose="020B0609030804020204" pitchFamily="49" charset="0"/>
                <a:cs typeface="Menlo" panose="020B0609030804020204" pitchFamily="49" charset="0"/>
              </a:rPr>
              <a:t>sequence = " AATTGGTCGAACGA"</a:t>
            </a:r>
          </a:p>
          <a:p>
            <a:r>
              <a:rPr lang="en-US" sz="1600" dirty="0">
                <a:latin typeface="Menlo" panose="020B0609030804020204" pitchFamily="49" charset="0"/>
                <a:ea typeface="Menlo" panose="020B0609030804020204" pitchFamily="49" charset="0"/>
                <a:cs typeface="Menlo" panose="020B0609030804020204" pitchFamily="49" charset="0"/>
              </a:rPr>
              <a:t>pattern = "AAC"</a:t>
            </a:r>
          </a:p>
          <a:p>
            <a:endParaRPr lang="en-US" sz="1600" dirty="0">
              <a:latin typeface="Menlo" panose="020B0609030804020204" pitchFamily="49" charset="0"/>
              <a:ea typeface="Menlo" panose="020B0609030804020204" pitchFamily="49" charset="0"/>
              <a:cs typeface="Menlo" panose="020B0609030804020204" pitchFamily="49" charset="0"/>
            </a:endParaRPr>
          </a:p>
          <a:p>
            <a:r>
              <a:rPr lang="en-US" sz="1600" dirty="0">
                <a:latin typeface="Menlo" panose="020B0609030804020204" pitchFamily="49" charset="0"/>
                <a:ea typeface="Menlo" panose="020B0609030804020204" pitchFamily="49" charset="0"/>
                <a:cs typeface="Menlo" panose="020B0609030804020204" pitchFamily="49" charset="0"/>
              </a:rPr>
              <a:t># Return the index of a pattern in a sequence</a:t>
            </a:r>
          </a:p>
          <a:p>
            <a:r>
              <a:rPr lang="en-US" sz="1600" dirty="0">
                <a:latin typeface="Menlo" panose="020B0609030804020204" pitchFamily="49" charset="0"/>
                <a:ea typeface="Menlo" panose="020B0609030804020204" pitchFamily="49" charset="0"/>
                <a:cs typeface="Menlo" panose="020B0609030804020204" pitchFamily="49" charset="0"/>
              </a:rPr>
              <a:t># returns -1 if the pattern is not found</a:t>
            </a:r>
          </a:p>
          <a:p>
            <a:r>
              <a:rPr lang="en-US" sz="1600" dirty="0">
                <a:latin typeface="Menlo" panose="020B0609030804020204" pitchFamily="49" charset="0"/>
                <a:ea typeface="Menlo" panose="020B0609030804020204" pitchFamily="49" charset="0"/>
                <a:cs typeface="Menlo" panose="020B0609030804020204" pitchFamily="49" charset="0"/>
              </a:rPr>
              <a:t>pos = </a:t>
            </a:r>
            <a:r>
              <a:rPr lang="en-US" sz="1600" dirty="0" err="1">
                <a:latin typeface="Menlo" panose="020B0609030804020204" pitchFamily="49" charset="0"/>
                <a:ea typeface="Menlo" panose="020B0609030804020204" pitchFamily="49" charset="0"/>
                <a:cs typeface="Menlo" panose="020B0609030804020204" pitchFamily="49" charset="0"/>
              </a:rPr>
              <a:t>sequence.find</a:t>
            </a:r>
            <a:r>
              <a:rPr lang="en-US" sz="1600" dirty="0">
                <a:latin typeface="Menlo" panose="020B0609030804020204" pitchFamily="49" charset="0"/>
                <a:ea typeface="Menlo" panose="020B0609030804020204" pitchFamily="49" charset="0"/>
                <a:cs typeface="Menlo" panose="020B0609030804020204" pitchFamily="49" charset="0"/>
              </a:rPr>
              <a:t>(pattern) +1</a:t>
            </a:r>
          </a:p>
          <a:p>
            <a:r>
              <a:rPr lang="en-US" sz="1600" dirty="0">
                <a:latin typeface="Menlo" panose="020B0609030804020204" pitchFamily="49" charset="0"/>
                <a:ea typeface="Menlo" panose="020B0609030804020204" pitchFamily="49" charset="0"/>
                <a:cs typeface="Menlo" panose="020B0609030804020204" pitchFamily="49" charset="0"/>
              </a:rPr>
              <a:t>print(pos)</a:t>
            </a:r>
          </a:p>
        </p:txBody>
      </p:sp>
      <p:sp>
        <p:nvSpPr>
          <p:cNvPr id="5" name="TextBox 4">
            <a:extLst>
              <a:ext uri="{FF2B5EF4-FFF2-40B4-BE49-F238E27FC236}">
                <a16:creationId xmlns:a16="http://schemas.microsoft.com/office/drawing/2014/main" id="{4C74DEDE-F614-2E59-94C0-6F17E53CBCDF}"/>
              </a:ext>
            </a:extLst>
          </p:cNvPr>
          <p:cNvSpPr txBox="1"/>
          <p:nvPr/>
        </p:nvSpPr>
        <p:spPr>
          <a:xfrm>
            <a:off x="459522" y="534390"/>
            <a:ext cx="11107044" cy="2862322"/>
          </a:xfrm>
          <a:prstGeom prst="rect">
            <a:avLst/>
          </a:prstGeom>
          <a:noFill/>
          <a:ln>
            <a:noFill/>
          </a:ln>
        </p:spPr>
        <p:txBody>
          <a:bodyPr wrap="square" rtlCol="0">
            <a:spAutoFit/>
          </a:bodyPr>
          <a:lstStyle/>
          <a:p>
            <a:r>
              <a:rPr lang="en-US" b="1" dirty="0"/>
              <a:t>The code to return the position of the first occurrence of the motif in the sequence would be simple </a:t>
            </a:r>
          </a:p>
          <a:p>
            <a:pPr marL="285750" indent="-285750">
              <a:buFont typeface="Arial" panose="020B0604020202020204" pitchFamily="34" charset="0"/>
              <a:buChar char="•"/>
            </a:pPr>
            <a:r>
              <a:rPr lang="en-US" dirty="0"/>
              <a:t>There are string function that already implement the functionality we need in python</a:t>
            </a:r>
          </a:p>
          <a:p>
            <a:pPr lvl="1"/>
            <a:r>
              <a:rPr lang="en-US" dirty="0">
                <a:hlinkClick r:id="rId2"/>
              </a:rPr>
              <a:t>https://docs.python.org/3/library/stdtypes.html#string-methods</a:t>
            </a:r>
            <a:endParaRPr lang="en-US" dirty="0"/>
          </a:p>
          <a:p>
            <a:pPr lvl="1"/>
            <a:r>
              <a:rPr lang="en-US" dirty="0"/>
              <a:t>Note: look at the .find and .index functions that both return that result, the difference is index gives an error when not found and find returns -1</a:t>
            </a:r>
          </a:p>
          <a:p>
            <a:endParaRPr lang="en-US" dirty="0"/>
          </a:p>
          <a:p>
            <a:pPr marL="285750" indent="-285750">
              <a:buFont typeface="Arial" panose="020B0604020202020204" pitchFamily="34" charset="0"/>
              <a:buChar char="•"/>
            </a:pPr>
            <a:r>
              <a:rPr lang="en-US" b="1" dirty="0"/>
              <a:t>Write this code in a </a:t>
            </a:r>
            <a:r>
              <a:rPr lang="en-US" b="1" dirty="0" err="1">
                <a:solidFill>
                  <a:schemeClr val="accent2"/>
                </a:solidFill>
              </a:rPr>
              <a:t>motif_find_pos.py</a:t>
            </a:r>
            <a:r>
              <a:rPr lang="en-US" b="1" dirty="0">
                <a:solidFill>
                  <a:schemeClr val="accent2"/>
                </a:solidFill>
              </a:rPr>
              <a:t> </a:t>
            </a:r>
            <a:r>
              <a:rPr lang="en-US" b="1" dirty="0"/>
              <a:t>file</a:t>
            </a:r>
          </a:p>
          <a:p>
            <a:pPr marL="285750" indent="-285750">
              <a:buFont typeface="Arial" panose="020B0604020202020204" pitchFamily="34" charset="0"/>
              <a:buChar char="•"/>
            </a:pPr>
            <a:r>
              <a:rPr lang="en-US" b="1" dirty="0"/>
              <a:t>Run the file using </a:t>
            </a:r>
            <a:r>
              <a:rPr lang="en-US" sz="1600" dirty="0">
                <a:latin typeface="Menlo" panose="020B0609030804020204" pitchFamily="49" charset="0"/>
                <a:ea typeface="Menlo" panose="020B0609030804020204" pitchFamily="49" charset="0"/>
                <a:cs typeface="Menlo" panose="020B0609030804020204" pitchFamily="49" charset="0"/>
              </a:rPr>
              <a:t>python </a:t>
            </a:r>
            <a:r>
              <a:rPr lang="en-US" sz="1600" dirty="0" err="1">
                <a:latin typeface="Menlo" panose="020B0609030804020204" pitchFamily="49" charset="0"/>
                <a:ea typeface="Menlo" panose="020B0609030804020204" pitchFamily="49" charset="0"/>
                <a:cs typeface="Menlo" panose="020B0609030804020204" pitchFamily="49" charset="0"/>
              </a:rPr>
              <a:t>motif_find_pos.py</a:t>
            </a:r>
            <a:endParaRPr lang="en-US" sz="1600" dirty="0">
              <a:latin typeface="Menlo" panose="020B0609030804020204" pitchFamily="49" charset="0"/>
              <a:ea typeface="Menlo" panose="020B0609030804020204" pitchFamily="49" charset="0"/>
              <a:cs typeface="Menlo" panose="020B0609030804020204" pitchFamily="49" charset="0"/>
            </a:endParaRPr>
          </a:p>
          <a:p>
            <a:pPr marL="285750" indent="-285750">
              <a:buFont typeface="Arial" panose="020B0604020202020204" pitchFamily="34" charset="0"/>
              <a:buChar char="•"/>
            </a:pPr>
            <a:r>
              <a:rPr lang="en-US" b="1" dirty="0"/>
              <a:t>You can also write the code in a code cell in python notebook and run the code</a:t>
            </a:r>
          </a:p>
          <a:p>
            <a:endParaRPr lang="en-US" dirty="0"/>
          </a:p>
        </p:txBody>
      </p:sp>
      <p:pic>
        <p:nvPicPr>
          <p:cNvPr id="2" name="Picture 1">
            <a:extLst>
              <a:ext uri="{FF2B5EF4-FFF2-40B4-BE49-F238E27FC236}">
                <a16:creationId xmlns:a16="http://schemas.microsoft.com/office/drawing/2014/main" id="{B89A0C0A-4FBD-C93E-5DA4-F12B67A0DBEA}"/>
              </a:ext>
            </a:extLst>
          </p:cNvPr>
          <p:cNvPicPr>
            <a:picLocks noChangeAspect="1"/>
          </p:cNvPicPr>
          <p:nvPr/>
        </p:nvPicPr>
        <p:blipFill>
          <a:blip r:embed="rId3"/>
          <a:stretch>
            <a:fillRect/>
          </a:stretch>
        </p:blipFill>
        <p:spPr>
          <a:xfrm>
            <a:off x="6496792" y="3300767"/>
            <a:ext cx="5069774" cy="2441230"/>
          </a:xfrm>
          <a:prstGeom prst="rect">
            <a:avLst/>
          </a:prstGeom>
          <a:ln>
            <a:solidFill>
              <a:schemeClr val="tx1"/>
            </a:solidFill>
          </a:ln>
        </p:spPr>
      </p:pic>
      <p:pic>
        <p:nvPicPr>
          <p:cNvPr id="4" name="Picture 3">
            <a:extLst>
              <a:ext uri="{FF2B5EF4-FFF2-40B4-BE49-F238E27FC236}">
                <a16:creationId xmlns:a16="http://schemas.microsoft.com/office/drawing/2014/main" id="{F38C43BA-0AEC-25A4-C854-E6B894CA3AC7}"/>
              </a:ext>
            </a:extLst>
          </p:cNvPr>
          <p:cNvPicPr>
            <a:picLocks noChangeAspect="1"/>
          </p:cNvPicPr>
          <p:nvPr/>
        </p:nvPicPr>
        <p:blipFill>
          <a:blip r:embed="rId4"/>
          <a:stretch>
            <a:fillRect/>
          </a:stretch>
        </p:blipFill>
        <p:spPr>
          <a:xfrm>
            <a:off x="6496792" y="6055542"/>
            <a:ext cx="5069774" cy="536136"/>
          </a:xfrm>
          <a:prstGeom prst="rect">
            <a:avLst/>
          </a:prstGeom>
          <a:ln>
            <a:solidFill>
              <a:schemeClr val="tx1"/>
            </a:solidFill>
          </a:ln>
        </p:spPr>
      </p:pic>
    </p:spTree>
    <p:extLst>
      <p:ext uri="{BB962C8B-B14F-4D97-AF65-F5344CB8AC3E}">
        <p14:creationId xmlns:p14="http://schemas.microsoft.com/office/powerpoint/2010/main" val="1640814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BB8FE-EB25-777A-389D-98E4CC0D02C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770B0EB-B683-51CE-20A0-074920381AEC}"/>
              </a:ext>
            </a:extLst>
          </p:cNvPr>
          <p:cNvSpPr/>
          <p:nvPr/>
        </p:nvSpPr>
        <p:spPr>
          <a:xfrm>
            <a:off x="419126" y="1068783"/>
            <a:ext cx="11353747" cy="4154984"/>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2.1:</a:t>
            </a:r>
          </a:p>
          <a:p>
            <a:r>
              <a:rPr lang="en-US" sz="2400" b="1" dirty="0">
                <a:latin typeface="Arial" panose="020B0604020202020204" pitchFamily="34" charset="0"/>
                <a:cs typeface="Arial" panose="020B0604020202020204" pitchFamily="34" charset="0"/>
              </a:rPr>
              <a:t>Pattern Search</a:t>
            </a:r>
          </a:p>
          <a:p>
            <a:pPr marL="342900" indent="-342900">
              <a:buFont typeface="Arial" panose="020B0604020202020204" pitchFamily="34" charset="0"/>
              <a:buChar char="•"/>
            </a:pPr>
            <a:r>
              <a:rPr lang="en-US" sz="2400" b="1" dirty="0">
                <a:latin typeface="Arial" panose="020B0604020202020204" pitchFamily="34" charset="0"/>
                <a:cs typeface="Arial" panose="020B0604020202020204" pitchFamily="34" charset="0"/>
              </a:rPr>
              <a:t>Write pseudocode for an algorithm that finds the start index for all occurrences of a custom pattern </a:t>
            </a:r>
            <a:r>
              <a:rPr lang="en-US" sz="2400" dirty="0">
                <a:latin typeface="Arial" panose="020B0604020202020204" pitchFamily="34" charset="0"/>
                <a:cs typeface="Arial" panose="020B0604020202020204" pitchFamily="34" charset="0"/>
              </a:rPr>
              <a:t>(e.g.: AAC)</a:t>
            </a:r>
            <a:r>
              <a:rPr lang="en-US" sz="2400" b="1" dirty="0">
                <a:latin typeface="Arial" panose="020B0604020202020204" pitchFamily="34" charset="0"/>
                <a:cs typeface="Arial" panose="020B0604020202020204" pitchFamily="34" charset="0"/>
              </a:rPr>
              <a:t> in your sequence, the result will be a list of indices where the pattern occurs in your sequence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TCGAATACGGGAT, indices = []</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AATTGGTCGAACGAAACTT, indices = [9,14]</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Walk through the code to see how the variables change</a:t>
            </a:r>
          </a:p>
          <a:p>
            <a:r>
              <a:rPr lang="en-US" sz="2400" b="1" dirty="0">
                <a:ea typeface="Arial" charset="0"/>
                <a:cs typeface="Arial" charset="0"/>
              </a:rPr>
              <a: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3545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52278-0C1F-0B92-107B-6FD28D1EB8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08F33E9-F2D3-D563-C4A8-5E88F7B52CE5}"/>
              </a:ext>
            </a:extLst>
          </p:cNvPr>
          <p:cNvSpPr txBox="1"/>
          <p:nvPr/>
        </p:nvSpPr>
        <p:spPr>
          <a:xfrm>
            <a:off x="3047011" y="1523446"/>
            <a:ext cx="6097978" cy="3416320"/>
          </a:xfrm>
          <a:prstGeom prst="rect">
            <a:avLst/>
          </a:prstGeom>
          <a:noFill/>
          <a:ln>
            <a:solidFill>
              <a:schemeClr val="tx1"/>
            </a:solidFill>
          </a:ln>
        </p:spPr>
        <p:txBody>
          <a:bodyPr wrap="square">
            <a:spAutoFit/>
          </a:bodyPr>
          <a:lstStyle/>
          <a:p>
            <a:r>
              <a:rPr lang="en-US" dirty="0"/>
              <a:t>Pattern design: TATA  </a:t>
            </a:r>
          </a:p>
          <a:p>
            <a:endParaRPr lang="en-US" dirty="0"/>
          </a:p>
          <a:p>
            <a:r>
              <a:rPr lang="en-US" dirty="0"/>
              <a:t>I've chosen the pattern "TATA" as my custom pattern. This is inspired by the TATA box, which is a common DNA sequence in promoter regions of genes in eukaryotes. The TATA box is typically found about 25-35 base pairs upstream of the transcription start site and plays a crucial role in the initiation of gene transcription. It serves as a binding site for transcription factors, helping to position RNA polymerase II correctly at the start of a gene.</a:t>
            </a:r>
          </a:p>
          <a:p>
            <a:endParaRPr lang="en-US" dirty="0"/>
          </a:p>
          <a:p>
            <a:endParaRPr lang="en-US" dirty="0"/>
          </a:p>
        </p:txBody>
      </p:sp>
    </p:spTree>
    <p:extLst>
      <p:ext uri="{BB962C8B-B14F-4D97-AF65-F5344CB8AC3E}">
        <p14:creationId xmlns:p14="http://schemas.microsoft.com/office/powerpoint/2010/main" val="915874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7999D-695B-9199-B7EA-8907713517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65BDA1-6F1E-1878-F294-5667D1EA128F}"/>
              </a:ext>
            </a:extLst>
          </p:cNvPr>
          <p:cNvSpPr txBox="1"/>
          <p:nvPr/>
        </p:nvSpPr>
        <p:spPr>
          <a:xfrm>
            <a:off x="3114799" y="75041"/>
            <a:ext cx="5962402" cy="6771084"/>
          </a:xfrm>
          <a:prstGeom prst="rect">
            <a:avLst/>
          </a:prstGeom>
          <a:noFill/>
          <a:ln>
            <a:solidFill>
              <a:schemeClr val="tx1"/>
            </a:solidFill>
          </a:ln>
        </p:spPr>
        <p:txBody>
          <a:bodyPr wrap="square">
            <a:spAutoFit/>
          </a:bodyPr>
          <a:lstStyle/>
          <a:p>
            <a:r>
              <a:rPr lang="en-US" sz="1400" b="1" dirty="0"/>
              <a:t>Pattern Search Pseudocode SOLUTION:</a:t>
            </a:r>
          </a:p>
          <a:p>
            <a:r>
              <a:rPr lang="en-US" sz="1400" dirty="0"/>
              <a:t>__________________</a:t>
            </a:r>
          </a:p>
          <a:p>
            <a:endParaRPr lang="en-US" sz="1400" dirty="0"/>
          </a:p>
          <a:p>
            <a:r>
              <a:rPr lang="en-US" sz="1400" dirty="0"/>
              <a:t>SET sequence TO "ATATACGTAGCTATAGCTAGCTATAAGC"</a:t>
            </a:r>
          </a:p>
          <a:p>
            <a:r>
              <a:rPr lang="en-US" sz="1400" dirty="0"/>
              <a:t>SET pattern TO "TATA"</a:t>
            </a:r>
          </a:p>
          <a:p>
            <a:r>
              <a:rPr lang="en-US" sz="1400" dirty="0"/>
              <a:t>SET occurrences TO empty list</a:t>
            </a:r>
          </a:p>
          <a:p>
            <a:endParaRPr lang="en-US" sz="1400" dirty="0"/>
          </a:p>
          <a:p>
            <a:r>
              <a:rPr lang="en-US" sz="1400" dirty="0"/>
              <a:t>FOR </a:t>
            </a:r>
            <a:r>
              <a:rPr lang="en-US" sz="1400" dirty="0" err="1"/>
              <a:t>i</a:t>
            </a:r>
            <a:r>
              <a:rPr lang="en-US" sz="1400" dirty="0"/>
              <a:t> FROM 0 TO LENGTH(sequence) - LENGTH(pattern)</a:t>
            </a:r>
          </a:p>
          <a:p>
            <a:r>
              <a:rPr lang="en-US" sz="1400" dirty="0"/>
              <a:t>    DO</a:t>
            </a:r>
          </a:p>
          <a:p>
            <a:r>
              <a:rPr lang="en-US" sz="1400" dirty="0"/>
              <a:t>        IF sequence[</a:t>
            </a:r>
            <a:r>
              <a:rPr lang="en-US" sz="1400" dirty="0" err="1"/>
              <a:t>i</a:t>
            </a:r>
            <a:r>
              <a:rPr lang="en-US" sz="1400" dirty="0"/>
              <a:t> to </a:t>
            </a:r>
            <a:r>
              <a:rPr lang="en-US" sz="1400" dirty="0" err="1"/>
              <a:t>i+LENGTH</a:t>
            </a:r>
            <a:r>
              <a:rPr lang="en-US" sz="1400" dirty="0"/>
              <a:t>(pattern)-1] EQUALS pattern THEN</a:t>
            </a:r>
          </a:p>
          <a:p>
            <a:r>
              <a:rPr lang="en-US" sz="1400" dirty="0"/>
              <a:t>            APPEND </a:t>
            </a:r>
            <a:r>
              <a:rPr lang="en-US" sz="1400" dirty="0" err="1"/>
              <a:t>i</a:t>
            </a:r>
            <a:r>
              <a:rPr lang="en-US" sz="1400" dirty="0"/>
              <a:t> TO occurrences</a:t>
            </a:r>
          </a:p>
          <a:p>
            <a:r>
              <a:rPr lang="en-US" sz="1400" dirty="0"/>
              <a:t>        ENDIF</a:t>
            </a:r>
          </a:p>
          <a:p>
            <a:r>
              <a:rPr lang="en-US" sz="1400" dirty="0"/>
              <a:t>    ENDFOR</a:t>
            </a:r>
          </a:p>
          <a:p>
            <a:endParaRPr lang="en-US" sz="1400" dirty="0"/>
          </a:p>
          <a:p>
            <a:r>
              <a:rPr lang="en-US" sz="1400" dirty="0"/>
              <a:t>DISPLAY "Pattern occurrences at indices:", occurrences</a:t>
            </a:r>
          </a:p>
          <a:p>
            <a:r>
              <a:rPr lang="en-US" sz="1400" dirty="0"/>
              <a:t>__________________</a:t>
            </a:r>
          </a:p>
          <a:p>
            <a:r>
              <a:rPr lang="en-US" sz="1400" dirty="0"/>
              <a:t>Numerical walkthrough:</a:t>
            </a:r>
          </a:p>
          <a:p>
            <a:r>
              <a:rPr lang="en-US" sz="1400" dirty="0"/>
              <a:t>Input: ATATACGTAGCTATAGCTAGCTATAAGC</a:t>
            </a:r>
          </a:p>
          <a:p>
            <a:r>
              <a:rPr lang="en-US" sz="1400" dirty="0"/>
              <a:t>Step 1: Initialize variables (pattern = "TATA", occurrences = [])</a:t>
            </a:r>
          </a:p>
          <a:p>
            <a:r>
              <a:rPr lang="en-US" sz="1400" dirty="0"/>
              <a:t>Step 2: Iterate through the sequence</a:t>
            </a:r>
          </a:p>
          <a:p>
            <a:r>
              <a:rPr lang="en-US" sz="1400" dirty="0" err="1"/>
              <a:t>i</a:t>
            </a:r>
            <a:r>
              <a:rPr lang="en-US" sz="1400" dirty="0"/>
              <a:t> = 0: "ATAT" ≠ "TATA"</a:t>
            </a:r>
          </a:p>
          <a:p>
            <a:r>
              <a:rPr lang="en-US" sz="1400" dirty="0" err="1"/>
              <a:t>i</a:t>
            </a:r>
            <a:r>
              <a:rPr lang="en-US" sz="1400" dirty="0"/>
              <a:t> = 1: "TATA" = "TATA" -&gt; occurrences =</a:t>
            </a:r>
          </a:p>
          <a:p>
            <a:r>
              <a:rPr lang="en-US" sz="1400" dirty="0" err="1"/>
              <a:t>i</a:t>
            </a:r>
            <a:r>
              <a:rPr lang="en-US" sz="1400" dirty="0"/>
              <a:t> = 2: "ATAC" ≠ "TATA"</a:t>
            </a:r>
          </a:p>
          <a:p>
            <a:r>
              <a:rPr lang="en-US" sz="1400" dirty="0"/>
              <a:t>...</a:t>
            </a:r>
          </a:p>
          <a:p>
            <a:r>
              <a:rPr lang="en-US" sz="1400" dirty="0" err="1"/>
              <a:t>i</a:t>
            </a:r>
            <a:r>
              <a:rPr lang="en-US" sz="1400" dirty="0"/>
              <a:t> = 13: "TATA" = "TATA" -&gt; occurrences = [1, 13]</a:t>
            </a:r>
          </a:p>
          <a:p>
            <a:r>
              <a:rPr lang="en-US" sz="1400" dirty="0"/>
              <a:t>...</a:t>
            </a:r>
          </a:p>
          <a:p>
            <a:r>
              <a:rPr lang="en-US" sz="1400" dirty="0" err="1"/>
              <a:t>i</a:t>
            </a:r>
            <a:r>
              <a:rPr lang="en-US" sz="1400" dirty="0"/>
              <a:t> = 23: "TATA" = "TATA" -&gt; occurrences = [1, 13, 23]</a:t>
            </a:r>
          </a:p>
          <a:p>
            <a:r>
              <a:rPr lang="en-US" sz="1400" dirty="0"/>
              <a:t>...</a:t>
            </a:r>
          </a:p>
          <a:p>
            <a:r>
              <a:rPr lang="en-US" sz="1400" dirty="0" err="1"/>
              <a:t>i</a:t>
            </a:r>
            <a:r>
              <a:rPr lang="en-US" sz="1400" dirty="0"/>
              <a:t> = 24: "TAAG" ≠ "TATA"</a:t>
            </a:r>
          </a:p>
          <a:p>
            <a:r>
              <a:rPr lang="en-US" sz="1400" dirty="0"/>
              <a:t>Final result:</a:t>
            </a:r>
          </a:p>
          <a:p>
            <a:r>
              <a:rPr lang="en-US" sz="1400" dirty="0"/>
              <a:t>Pattern occurrences at indices: [1, 13, 23]</a:t>
            </a:r>
          </a:p>
        </p:txBody>
      </p:sp>
    </p:spTree>
    <p:extLst>
      <p:ext uri="{BB962C8B-B14F-4D97-AF65-F5344CB8AC3E}">
        <p14:creationId xmlns:p14="http://schemas.microsoft.com/office/powerpoint/2010/main" val="1026816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7487F-1466-286A-26E5-62302A4137F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39A6759-B4E9-6EB3-C90F-7BFC658C43C1}"/>
              </a:ext>
            </a:extLst>
          </p:cNvPr>
          <p:cNvSpPr/>
          <p:nvPr/>
        </p:nvSpPr>
        <p:spPr>
          <a:xfrm>
            <a:off x="419126" y="1068783"/>
            <a:ext cx="11353747" cy="4154984"/>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2.2:</a:t>
            </a:r>
          </a:p>
          <a:p>
            <a:r>
              <a:rPr lang="en-US" sz="2400" b="1" dirty="0">
                <a:latin typeface="Arial" panose="020B0604020202020204" pitchFamily="34" charset="0"/>
                <a:cs typeface="Arial" panose="020B0604020202020204" pitchFamily="34" charset="0"/>
              </a:rPr>
              <a:t>Complementary Sequence</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    -   Write pseudocode for an algorithm that generates the complementary strand of your DNA sequence</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    -   Remember: A pairs with T, C pairs with G</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TCGAA, complement = AGCTT</a:t>
            </a:r>
          </a:p>
          <a:p>
            <a:pPr marL="457200" indent="-457200">
              <a:buFont typeface="Arial" panose="020B0604020202020204" pitchFamily="34" charset="0"/>
              <a:buChar char="•"/>
            </a:pPr>
            <a:r>
              <a:rPr lang="en-US" sz="2400" dirty="0">
                <a:latin typeface="Arial" panose="020B0604020202020204" pitchFamily="34" charset="0"/>
                <a:cs typeface="Arial" panose="020B0604020202020204" pitchFamily="34" charset="0"/>
              </a:rPr>
              <a:t>e.g.: sequence = AATTGGC, complement = TTAACCG</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Walk through the code to see how the variables change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r>
              <a:rPr lang="en-US" sz="2400" b="1" dirty="0">
                <a:ea typeface="Arial" charset="0"/>
                <a:cs typeface="Arial" charset="0"/>
              </a:rPr>
              <a: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2646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D2077-1B6D-C8B5-CB53-4889A95FE2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B6A3FC6-0582-0C8E-AE90-C425C60A3083}"/>
              </a:ext>
            </a:extLst>
          </p:cNvPr>
          <p:cNvSpPr/>
          <p:nvPr/>
        </p:nvSpPr>
        <p:spPr>
          <a:xfrm>
            <a:off x="3258880" y="151885"/>
            <a:ext cx="5101350" cy="6494085"/>
          </a:xfrm>
          <a:prstGeom prst="rect">
            <a:avLst/>
          </a:prstGeom>
          <a:ln>
            <a:solidFill>
              <a:schemeClr val="tx1"/>
            </a:solidFill>
          </a:ln>
        </p:spPr>
        <p:txBody>
          <a:bodyPr wrap="square">
            <a:spAutoFit/>
          </a:bodyPr>
          <a:lstStyle/>
          <a:p>
            <a:r>
              <a:rPr lang="en-US" sz="1300" b="1" dirty="0"/>
              <a:t>Complementary Sequence Pseudocode SOLUTION:</a:t>
            </a:r>
          </a:p>
          <a:p>
            <a:r>
              <a:rPr lang="en-US" sz="1300" dirty="0"/>
              <a:t>__________________</a:t>
            </a:r>
          </a:p>
          <a:p>
            <a:endParaRPr lang="en-US" sz="1300" dirty="0"/>
          </a:p>
          <a:p>
            <a:r>
              <a:rPr lang="en-US" sz="1300" dirty="0"/>
              <a:t>SET complementary TO empty string</a:t>
            </a:r>
          </a:p>
          <a:p>
            <a:endParaRPr lang="en-US" sz="1300" dirty="0"/>
          </a:p>
          <a:p>
            <a:r>
              <a:rPr lang="en-US" sz="1300" dirty="0"/>
              <a:t>FOR </a:t>
            </a:r>
            <a:r>
              <a:rPr lang="en-US" sz="1300" dirty="0" err="1"/>
              <a:t>i</a:t>
            </a:r>
            <a:r>
              <a:rPr lang="en-US" sz="1300" dirty="0"/>
              <a:t> FROM 0 TO LENGTH(sequence) - 1</a:t>
            </a:r>
          </a:p>
          <a:p>
            <a:r>
              <a:rPr lang="en-US" sz="1300" dirty="0"/>
              <a:t>    DO</a:t>
            </a:r>
          </a:p>
          <a:p>
            <a:r>
              <a:rPr lang="en-US" sz="1300" dirty="0"/>
              <a:t>        CASE sequence[</a:t>
            </a:r>
            <a:r>
              <a:rPr lang="en-US" sz="1300" dirty="0" err="1"/>
              <a:t>i</a:t>
            </a:r>
            <a:r>
              <a:rPr lang="en-US" sz="1300" dirty="0"/>
              <a:t>] OF</a:t>
            </a:r>
          </a:p>
          <a:p>
            <a:r>
              <a:rPr lang="en-US" sz="1300" dirty="0"/>
              <a:t>            'A': APPEND 'T' TO complementary</a:t>
            </a:r>
          </a:p>
          <a:p>
            <a:r>
              <a:rPr lang="en-US" sz="1300" dirty="0"/>
              <a:t>            'T': APPEND 'A' TO complementary</a:t>
            </a:r>
          </a:p>
          <a:p>
            <a:r>
              <a:rPr lang="en-US" sz="1300" dirty="0"/>
              <a:t>            'C': APPEND 'G' TO complementary</a:t>
            </a:r>
          </a:p>
          <a:p>
            <a:r>
              <a:rPr lang="en-US" sz="1300" dirty="0"/>
              <a:t>            'G': APPEND 'C' TO complementary</a:t>
            </a:r>
          </a:p>
          <a:p>
            <a:r>
              <a:rPr lang="en-US" sz="1300" dirty="0"/>
              <a:t>        ENDCASE</a:t>
            </a:r>
          </a:p>
          <a:p>
            <a:r>
              <a:rPr lang="en-US" sz="1300" dirty="0"/>
              <a:t>    ENDFOR</a:t>
            </a:r>
          </a:p>
          <a:p>
            <a:endParaRPr lang="en-US" sz="1300" dirty="0"/>
          </a:p>
          <a:p>
            <a:r>
              <a:rPr lang="en-US" sz="1300" dirty="0"/>
              <a:t>DISPLAY "Complementary sequence:", complementary</a:t>
            </a:r>
          </a:p>
          <a:p>
            <a:r>
              <a:rPr lang="en-US" sz="1300" dirty="0"/>
              <a:t>__________________</a:t>
            </a:r>
          </a:p>
          <a:p>
            <a:endParaRPr lang="en-US" sz="1300" dirty="0"/>
          </a:p>
          <a:p>
            <a:r>
              <a:rPr lang="en-US" sz="1300" dirty="0"/>
              <a:t>Numerical walkthrough:</a:t>
            </a:r>
          </a:p>
          <a:p>
            <a:r>
              <a:rPr lang="en-US" sz="1300" dirty="0"/>
              <a:t>Input: ATATACGTAGCTATAGCTAGCTATAAGC</a:t>
            </a:r>
          </a:p>
          <a:p>
            <a:r>
              <a:rPr lang="en-US" sz="1300" dirty="0"/>
              <a:t>Step 1: Initialize complementary as an empty string</a:t>
            </a:r>
          </a:p>
          <a:p>
            <a:r>
              <a:rPr lang="en-US" sz="1300" dirty="0"/>
              <a:t>Step 2: Iterate through the sequence</a:t>
            </a:r>
          </a:p>
          <a:p>
            <a:r>
              <a:rPr lang="en-US" sz="1300" dirty="0" err="1"/>
              <a:t>i</a:t>
            </a:r>
            <a:r>
              <a:rPr lang="en-US" sz="1300" dirty="0"/>
              <a:t> = 0: 'A' -&gt; complementary = "T"</a:t>
            </a:r>
          </a:p>
          <a:p>
            <a:r>
              <a:rPr lang="en-US" sz="1300" dirty="0" err="1"/>
              <a:t>i</a:t>
            </a:r>
            <a:r>
              <a:rPr lang="en-US" sz="1300" dirty="0"/>
              <a:t> = 1: 'T' -&gt; complementary = "TA"</a:t>
            </a:r>
          </a:p>
          <a:p>
            <a:r>
              <a:rPr lang="en-US" sz="1300" dirty="0" err="1"/>
              <a:t>i</a:t>
            </a:r>
            <a:r>
              <a:rPr lang="en-US" sz="1300" dirty="0"/>
              <a:t> = 2: 'A' -&gt; complementary = "TAT"</a:t>
            </a:r>
          </a:p>
          <a:p>
            <a:r>
              <a:rPr lang="en-US" sz="1300" dirty="0" err="1"/>
              <a:t>i</a:t>
            </a:r>
            <a:r>
              <a:rPr lang="en-US" sz="1300" dirty="0"/>
              <a:t> = 3: 'T' -&gt; complementary = "TATA"</a:t>
            </a:r>
          </a:p>
          <a:p>
            <a:r>
              <a:rPr lang="en-US" sz="1300" dirty="0" err="1"/>
              <a:t>i</a:t>
            </a:r>
            <a:r>
              <a:rPr lang="en-US" sz="1300" dirty="0"/>
              <a:t> = 4: 'A' -&gt; complementary = "TATAT"</a:t>
            </a:r>
          </a:p>
          <a:p>
            <a:r>
              <a:rPr lang="en-US" sz="1300" dirty="0" err="1"/>
              <a:t>i</a:t>
            </a:r>
            <a:r>
              <a:rPr lang="en-US" sz="1300" dirty="0"/>
              <a:t> = 5: 'C' -&gt; complementary = "TATATG"</a:t>
            </a:r>
          </a:p>
          <a:p>
            <a:r>
              <a:rPr lang="en-US" sz="1300" dirty="0"/>
              <a:t>...</a:t>
            </a:r>
          </a:p>
          <a:p>
            <a:r>
              <a:rPr lang="en-US" sz="1300" dirty="0" err="1"/>
              <a:t>i</a:t>
            </a:r>
            <a:r>
              <a:rPr lang="en-US" sz="1300" dirty="0"/>
              <a:t> = 27: 'C' -&gt; complementary = "TATATGCATCGATATCGATCGATATTCG"</a:t>
            </a:r>
          </a:p>
          <a:p>
            <a:r>
              <a:rPr lang="en-US" sz="1300" dirty="0"/>
              <a:t>Final result:</a:t>
            </a:r>
          </a:p>
          <a:p>
            <a:r>
              <a:rPr lang="en-US" sz="1300" dirty="0"/>
              <a:t>Complementary sequence: TATATGCATCGATATCGATCGATATTCG</a:t>
            </a:r>
          </a:p>
        </p:txBody>
      </p:sp>
    </p:spTree>
    <p:extLst>
      <p:ext uri="{BB962C8B-B14F-4D97-AF65-F5344CB8AC3E}">
        <p14:creationId xmlns:p14="http://schemas.microsoft.com/office/powerpoint/2010/main" val="41306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23373-6511-C489-F734-6C1CA93873B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25C32C9-B61C-DB13-569F-7E029D338C25}"/>
              </a:ext>
            </a:extLst>
          </p:cNvPr>
          <p:cNvSpPr/>
          <p:nvPr/>
        </p:nvSpPr>
        <p:spPr>
          <a:xfrm>
            <a:off x="419126" y="1068783"/>
            <a:ext cx="11353747" cy="5386090"/>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3.1:</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Write bash code to identify the top 5 most common food groups (</a:t>
            </a:r>
            <a:r>
              <a:rPr lang="en-US" sz="2400" b="1" dirty="0" err="1">
                <a:latin typeface="Arial" panose="020B0604020202020204" pitchFamily="34" charset="0"/>
                <a:cs typeface="Arial" panose="020B0604020202020204" pitchFamily="34" charset="0"/>
              </a:rPr>
              <a:t>food_group</a:t>
            </a:r>
            <a:r>
              <a:rPr lang="en-US" sz="2400" b="1" dirty="0">
                <a:latin typeface="Arial" panose="020B0604020202020204" pitchFamily="34" charset="0"/>
                <a:cs typeface="Arial" panose="020B0604020202020204" pitchFamily="34" charset="0"/>
              </a:rPr>
              <a:t> column) in the </a:t>
            </a:r>
            <a:r>
              <a:rPr lang="en-US" sz="2400" b="1" dirty="0" err="1">
                <a:latin typeface="Arial" panose="020B0604020202020204" pitchFamily="34" charset="0"/>
                <a:cs typeface="Arial" panose="020B0604020202020204" pitchFamily="34" charset="0"/>
              </a:rPr>
              <a:t>Food.csv</a:t>
            </a:r>
            <a:r>
              <a:rPr lang="en-US" sz="2400" b="1" dirty="0">
                <a:latin typeface="Arial" panose="020B0604020202020204" pitchFamily="34" charset="0"/>
                <a:cs typeface="Arial" panose="020B0604020202020204" pitchFamily="34" charset="0"/>
              </a:rPr>
              <a:t>. Check the header the see what columns are available in the file.</a:t>
            </a:r>
          </a:p>
          <a:p>
            <a:r>
              <a:rPr lang="en-US" sz="2400" b="1" dirty="0">
                <a:latin typeface="Arial" panose="020B0604020202020204" pitchFamily="34" charset="0"/>
                <a:cs typeface="Arial" panose="020B0604020202020204" pitchFamily="34" charset="0"/>
              </a:rPr>
              <a:t>	- </a:t>
            </a:r>
            <a:r>
              <a:rPr lang="en-US" sz="2400" dirty="0">
                <a:latin typeface="Arial" panose="020B0604020202020204" pitchFamily="34" charset="0"/>
                <a:cs typeface="Arial" panose="020B0604020202020204" pitchFamily="34" charset="0"/>
              </a:rPr>
              <a:t>The result would be 5 lines with 2 columns: count and food group name</a:t>
            </a:r>
          </a:p>
          <a:p>
            <a:pPr marL="457200" indent="-457200">
              <a:buFont typeface="Arial" panose="020B0604020202020204" pitchFamily="34" charset="0"/>
              <a:buChar char="•"/>
            </a:pPr>
            <a:endParaRPr lang="en-US" sz="2400" b="1"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Notes: </a:t>
            </a:r>
          </a:p>
          <a:p>
            <a:r>
              <a:rPr lang="en-US" sz="2000" dirty="0">
                <a:latin typeface="Arial" panose="020B0604020202020204" pitchFamily="34" charset="0"/>
                <a:cs typeface="Arial" panose="020B0604020202020204" pitchFamily="34" charset="0"/>
              </a:rPr>
              <a:t>- The file is comma separated, but it has some fields that have commas in the text, for instance, the food description text is quoted and contains commas and sometimes new lines and quoted text.</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An example description with commas:</a:t>
            </a:r>
          </a:p>
          <a:p>
            <a:r>
              <a:rPr lang="en-US" sz="2000" dirty="0">
                <a:latin typeface="Arial" panose="020B0604020202020204" pitchFamily="34" charset="0"/>
                <a:cs typeface="Arial" panose="020B0604020202020204" pitchFamily="34" charset="0"/>
              </a:rPr>
              <a:t>"Angelica is a genus of about 60 species of tall biennial and perennial herbs in the family </a:t>
            </a:r>
            <a:r>
              <a:rPr lang="en-US" sz="2000" dirty="0" err="1">
                <a:latin typeface="Arial" panose="020B0604020202020204" pitchFamily="34" charset="0"/>
                <a:cs typeface="Arial" panose="020B0604020202020204" pitchFamily="34" charset="0"/>
              </a:rPr>
              <a:t>Apiaceae</a:t>
            </a:r>
            <a:r>
              <a:rPr lang="en-US" sz="2000" dirty="0">
                <a:latin typeface="Arial" panose="020B0604020202020204" pitchFamily="34" charset="0"/>
                <a:cs typeface="Arial" panose="020B0604020202020204" pitchFamily="34" charset="0"/>
              </a:rPr>
              <a:t>, native to temperate and subarctic regions of the Northern Hemisphere, reaching as far north as Iceland and Lapland. They grow to 1–3 m tall, with large bipinnate leaves and large compound umbels of white or greenish-white flowers. Some species can be found in purple moor and rush pastures."</a:t>
            </a:r>
            <a:r>
              <a:rPr lang="en-US" sz="2000" dirty="0">
                <a:ea typeface="Arial" charset="0"/>
                <a:cs typeface="Arial" charset="0"/>
              </a:rPr>
              <a:t>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8919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3C84A-7AE6-2E95-78CD-32860529225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49BD31D-465D-376E-907F-8454B71D92A8}"/>
              </a:ext>
            </a:extLst>
          </p:cNvPr>
          <p:cNvSpPr/>
          <p:nvPr/>
        </p:nvSpPr>
        <p:spPr>
          <a:xfrm>
            <a:off x="344383" y="151885"/>
            <a:ext cx="11673445" cy="6494085"/>
          </a:xfrm>
          <a:prstGeom prst="rect">
            <a:avLst/>
          </a:prstGeom>
          <a:ln>
            <a:solidFill>
              <a:schemeClr val="tx1"/>
            </a:solidFill>
          </a:ln>
        </p:spPr>
        <p:txBody>
          <a:bodyPr wrap="square">
            <a:spAutoFit/>
          </a:bodyPr>
          <a:lstStyle/>
          <a:p>
            <a:r>
              <a:rPr lang="en-US" sz="1300" dirty="0">
                <a:latin typeface="Menlo" panose="020B0609030804020204" pitchFamily="49" charset="0"/>
                <a:ea typeface="Menlo" panose="020B0609030804020204" pitchFamily="49" charset="0"/>
                <a:cs typeface="Menlo" panose="020B0609030804020204" pitchFamily="49" charset="0"/>
              </a:rPr>
              <a:t>Include the command and the result (food group name and count) in the solution file.</a:t>
            </a:r>
          </a:p>
          <a:p>
            <a:endParaRPr lang="en-US" sz="1300" dirty="0">
              <a:latin typeface="Menlo" panose="020B0609030804020204" pitchFamily="49" charset="0"/>
              <a:ea typeface="Menlo" panose="020B0609030804020204" pitchFamily="49" charset="0"/>
              <a:cs typeface="Menlo" panose="020B0609030804020204" pitchFamily="49" charset="0"/>
            </a:endParaRPr>
          </a:p>
          <a:p>
            <a:endParaRPr lang="en-US" sz="1300" dirty="0">
              <a:latin typeface="Menlo" panose="020B0609030804020204" pitchFamily="49" charset="0"/>
              <a:ea typeface="Menlo" panose="020B0609030804020204" pitchFamily="49" charset="0"/>
              <a:cs typeface="Menlo" panose="020B0609030804020204" pitchFamily="49" charset="0"/>
            </a:endParaRPr>
          </a:p>
          <a:p>
            <a:r>
              <a:rPr lang="en-US" sz="1300" dirty="0">
                <a:latin typeface="Menlo" panose="020B0609030804020204" pitchFamily="49" charset="0"/>
                <a:ea typeface="Menlo" panose="020B0609030804020204" pitchFamily="49" charset="0"/>
                <a:cs typeface="Menlo" panose="020B0609030804020204" pitchFamily="49" charset="0"/>
              </a:rPr>
              <a:t>COMMAND:</a:t>
            </a:r>
          </a:p>
          <a:p>
            <a:r>
              <a:rPr lang="en-US" sz="1300" dirty="0">
                <a:latin typeface="Menlo" panose="020B0609030804020204" pitchFamily="49" charset="0"/>
                <a:ea typeface="Menlo" panose="020B0609030804020204" pitchFamily="49" charset="0"/>
                <a:cs typeface="Menlo" panose="020B0609030804020204" pitchFamily="49" charset="0"/>
              </a:rPr>
              <a:t>tr "\n" "~" &lt; </a:t>
            </a:r>
            <a:r>
              <a:rPr lang="en-US" sz="1300" dirty="0" err="1">
                <a:latin typeface="Menlo" panose="020B0609030804020204" pitchFamily="49" charset="0"/>
                <a:ea typeface="Menlo" panose="020B0609030804020204" pitchFamily="49" charset="0"/>
                <a:cs typeface="Menlo" panose="020B0609030804020204" pitchFamily="49" charset="0"/>
              </a:rPr>
              <a:t>Food.csv</a:t>
            </a:r>
            <a:r>
              <a:rPr lang="en-US" sz="1300" dirty="0">
                <a:latin typeface="Menlo" panose="020B0609030804020204" pitchFamily="49" charset="0"/>
                <a:ea typeface="Menlo" panose="020B0609030804020204" pitchFamily="49" charset="0"/>
                <a:cs typeface="Menlo" panose="020B0609030804020204" pitchFamily="49" charset="0"/>
              </a:rPr>
              <a:t> |sed 's/"[^"]*"//g' | tr "~" "\n" | cut -d, -f12  | sort | </a:t>
            </a:r>
            <a:r>
              <a:rPr lang="en-US" sz="1300" dirty="0" err="1">
                <a:latin typeface="Menlo" panose="020B0609030804020204" pitchFamily="49" charset="0"/>
                <a:ea typeface="Menlo" panose="020B0609030804020204" pitchFamily="49" charset="0"/>
                <a:cs typeface="Menlo" panose="020B0609030804020204" pitchFamily="49" charset="0"/>
              </a:rPr>
              <a:t>uniq</a:t>
            </a:r>
            <a:r>
              <a:rPr lang="en-US" sz="1300" dirty="0">
                <a:latin typeface="Menlo" panose="020B0609030804020204" pitchFamily="49" charset="0"/>
                <a:ea typeface="Menlo" panose="020B0609030804020204" pitchFamily="49" charset="0"/>
                <a:cs typeface="Menlo" panose="020B0609030804020204" pitchFamily="49" charset="0"/>
              </a:rPr>
              <a:t> -c | sort -nr | head -n5</a:t>
            </a:r>
          </a:p>
          <a:p>
            <a:endParaRPr lang="en-US" sz="1300" dirty="0">
              <a:latin typeface="Menlo" panose="020B0609030804020204" pitchFamily="49" charset="0"/>
              <a:ea typeface="Menlo" panose="020B0609030804020204" pitchFamily="49" charset="0"/>
              <a:cs typeface="Menlo" panose="020B0609030804020204" pitchFamily="49" charset="0"/>
            </a:endParaRPr>
          </a:p>
          <a:p>
            <a:endParaRPr lang="en-US" sz="1300" dirty="0">
              <a:latin typeface="Menlo" panose="020B0609030804020204" pitchFamily="49" charset="0"/>
              <a:ea typeface="Menlo" panose="020B0609030804020204" pitchFamily="49" charset="0"/>
              <a:cs typeface="Menlo" panose="020B0609030804020204" pitchFamily="49" charset="0"/>
            </a:endParaRPr>
          </a:p>
          <a:p>
            <a:r>
              <a:rPr lang="en-US" sz="1300" dirty="0">
                <a:ea typeface="Menlo" panose="020B0609030804020204" pitchFamily="49" charset="0"/>
                <a:cs typeface="Menlo" panose="020B0609030804020204" pitchFamily="49" charset="0"/>
              </a:rPr>
              <a:t># the tr command replaces the new lines (\n) with </a:t>
            </a:r>
            <a:r>
              <a:rPr lang="en-US" sz="1300" dirty="0" err="1">
                <a:ea typeface="Menlo" panose="020B0609030804020204" pitchFamily="49" charset="0"/>
                <a:cs typeface="Menlo" panose="020B0609030804020204" pitchFamily="49" charset="0"/>
              </a:rPr>
              <a:t>tilda</a:t>
            </a:r>
            <a:r>
              <a:rPr lang="en-US" sz="1300" dirty="0">
                <a:ea typeface="Menlo" panose="020B0609030804020204" pitchFamily="49" charset="0"/>
                <a:cs typeface="Menlo" panose="020B0609030804020204" pitchFamily="49" charset="0"/>
              </a:rPr>
              <a:t> (~)</a:t>
            </a:r>
          </a:p>
          <a:p>
            <a:r>
              <a:rPr lang="en-US" sz="1300" dirty="0">
                <a:ea typeface="Menlo" panose="020B0609030804020204" pitchFamily="49" charset="0"/>
                <a:cs typeface="Menlo" panose="020B0609030804020204" pitchFamily="49" charset="0"/>
              </a:rPr>
              <a:t># replacing the new line makes descriptions that span multiple lines to have the quotes on the same line </a:t>
            </a:r>
          </a:p>
          <a:p>
            <a:r>
              <a:rPr lang="en-US" sz="1300" dirty="0">
                <a:ea typeface="Menlo" panose="020B0609030804020204" pitchFamily="49" charset="0"/>
                <a:cs typeface="Menlo" panose="020B0609030804020204" pitchFamily="49" charset="0"/>
              </a:rPr>
              <a:t># this helps with commands the process the file line by line like grep, sed, awk</a:t>
            </a:r>
          </a:p>
          <a:p>
            <a:r>
              <a:rPr lang="en-US" sz="1300" dirty="0">
                <a:ea typeface="Menlo" panose="020B0609030804020204" pitchFamily="49" charset="0"/>
                <a:cs typeface="Menlo" panose="020B0609030804020204" pitchFamily="49" charset="0"/>
              </a:rPr>
              <a:t># sed 's/"[^"]*"//g' replaces/substitutes (s) generally (g - all occurrences of the pattern in a line)</a:t>
            </a:r>
          </a:p>
          <a:p>
            <a:r>
              <a:rPr lang="en-US" sz="1300" dirty="0">
                <a:ea typeface="Menlo" panose="020B0609030804020204" pitchFamily="49" charset="0"/>
                <a:cs typeface="Menlo" panose="020B0609030804020204" pitchFamily="49" charset="0"/>
              </a:rPr>
              <a:t># the pattern is replaces with nothing (//)</a:t>
            </a:r>
          </a:p>
          <a:p>
            <a:r>
              <a:rPr lang="en-US" sz="1300" dirty="0">
                <a:ea typeface="Menlo" panose="020B0609030804020204" pitchFamily="49" charset="0"/>
                <a:cs typeface="Menlo" panose="020B0609030804020204" pitchFamily="49" charset="0"/>
              </a:rPr>
              <a:t># the pattern:"[^"]*" matches two double quotes with anything in between but a double quote</a:t>
            </a:r>
          </a:p>
          <a:p>
            <a:r>
              <a:rPr lang="en-US" sz="1300" dirty="0">
                <a:ea typeface="Menlo" panose="020B0609030804020204" pitchFamily="49" charset="0"/>
                <a:cs typeface="Menlo" panose="020B0609030804020204" pitchFamily="49" charset="0"/>
              </a:rPr>
              <a:t># the cut command breaks each line by the delimiter (-d,) which we set to , by using the -d option</a:t>
            </a:r>
          </a:p>
          <a:p>
            <a:r>
              <a:rPr lang="en-US" sz="1300" dirty="0">
                <a:ea typeface="Menlo" panose="020B0609030804020204" pitchFamily="49" charset="0"/>
                <a:cs typeface="Menlo" panose="020B0609030804020204" pitchFamily="49" charset="0"/>
              </a:rPr>
              <a:t># the -f option for cut retrieves the respective field/column - in this case column 12 - the food group name</a:t>
            </a:r>
          </a:p>
          <a:p>
            <a:r>
              <a:rPr lang="en-US" sz="1300" dirty="0">
                <a:ea typeface="Menlo" panose="020B0609030804020204" pitchFamily="49" charset="0"/>
                <a:cs typeface="Menlo" panose="020B0609030804020204" pitchFamily="49" charset="0"/>
              </a:rPr>
              <a:t># columns are separated by the delimiter from -d or tab if no delimiter is provided</a:t>
            </a:r>
          </a:p>
          <a:p>
            <a:r>
              <a:rPr lang="en-US" sz="1300" dirty="0">
                <a:ea typeface="Menlo" panose="020B0609030804020204" pitchFamily="49" charset="0"/>
                <a:cs typeface="Menlo" panose="020B0609030804020204" pitchFamily="49" charset="0"/>
              </a:rPr>
              <a:t># the sort command sorts the lines lexicographically</a:t>
            </a:r>
          </a:p>
          <a:p>
            <a:r>
              <a:rPr lang="en-US" sz="1300" dirty="0">
                <a:ea typeface="Menlo" panose="020B0609030804020204" pitchFamily="49" charset="0"/>
                <a:cs typeface="Menlo" panose="020B0609030804020204" pitchFamily="49" charset="0"/>
              </a:rPr>
              <a:t># the </a:t>
            </a:r>
            <a:r>
              <a:rPr lang="en-US" sz="1300" dirty="0" err="1">
                <a:ea typeface="Menlo" panose="020B0609030804020204" pitchFamily="49" charset="0"/>
                <a:cs typeface="Menlo" panose="020B0609030804020204" pitchFamily="49" charset="0"/>
              </a:rPr>
              <a:t>uniq</a:t>
            </a:r>
            <a:r>
              <a:rPr lang="en-US" sz="1300" dirty="0">
                <a:ea typeface="Menlo" panose="020B0609030804020204" pitchFamily="49" charset="0"/>
                <a:cs typeface="Menlo" panose="020B0609030804020204" pitchFamily="49" charset="0"/>
              </a:rPr>
              <a:t> command provide the unique elements/lines in a file, </a:t>
            </a:r>
          </a:p>
          <a:p>
            <a:r>
              <a:rPr lang="en-US" sz="1300" dirty="0">
                <a:ea typeface="Menlo" panose="020B0609030804020204" pitchFamily="49" charset="0"/>
                <a:cs typeface="Menlo" panose="020B0609030804020204" pitchFamily="49" charset="0"/>
              </a:rPr>
              <a:t># -c option for </a:t>
            </a:r>
            <a:r>
              <a:rPr lang="en-US" sz="1300" dirty="0" err="1">
                <a:ea typeface="Menlo" panose="020B0609030804020204" pitchFamily="49" charset="0"/>
                <a:cs typeface="Menlo" panose="020B0609030804020204" pitchFamily="49" charset="0"/>
              </a:rPr>
              <a:t>uniq</a:t>
            </a:r>
            <a:r>
              <a:rPr lang="en-US" sz="1300" dirty="0">
                <a:ea typeface="Menlo" panose="020B0609030804020204" pitchFamily="49" charset="0"/>
                <a:cs typeface="Menlo" panose="020B0609030804020204" pitchFamily="49" charset="0"/>
              </a:rPr>
              <a:t> counts how many consecutive lines with each element there are</a:t>
            </a:r>
          </a:p>
          <a:p>
            <a:r>
              <a:rPr lang="en-US" sz="1300" dirty="0">
                <a:ea typeface="Menlo" panose="020B0609030804020204" pitchFamily="49" charset="0"/>
                <a:cs typeface="Menlo" panose="020B0609030804020204" pitchFamily="49" charset="0"/>
              </a:rPr>
              <a:t># the -n option for sort orders data numerically</a:t>
            </a:r>
          </a:p>
          <a:p>
            <a:r>
              <a:rPr lang="en-US" sz="1300" dirty="0">
                <a:ea typeface="Menlo" panose="020B0609030804020204" pitchFamily="49" charset="0"/>
                <a:cs typeface="Menlo" panose="020B0609030804020204" pitchFamily="49" charset="0"/>
              </a:rPr>
              <a:t># the -r option for sort orders data in reverse (high to low counts in this case)</a:t>
            </a:r>
          </a:p>
          <a:p>
            <a:r>
              <a:rPr lang="en-US" sz="1300" dirty="0">
                <a:ea typeface="Menlo" panose="020B0609030804020204" pitchFamily="49" charset="0"/>
                <a:cs typeface="Menlo" panose="020B0609030804020204" pitchFamily="49" charset="0"/>
              </a:rPr>
              <a:t># the head command provides the top 10 lines in the input</a:t>
            </a:r>
          </a:p>
          <a:p>
            <a:r>
              <a:rPr lang="en-US" sz="1300" dirty="0">
                <a:ea typeface="Menlo" panose="020B0609030804020204" pitchFamily="49" charset="0"/>
                <a:cs typeface="Menlo" panose="020B0609030804020204" pitchFamily="49" charset="0"/>
              </a:rPr>
              <a:t># the -n option for the head command retrieves the given number of lines, in this case 5</a:t>
            </a:r>
          </a:p>
          <a:p>
            <a:endParaRPr lang="en-US" sz="1300" dirty="0">
              <a:ea typeface="Menlo" panose="020B0609030804020204" pitchFamily="49" charset="0"/>
              <a:cs typeface="Menlo" panose="020B0609030804020204" pitchFamily="49" charset="0"/>
            </a:endParaRPr>
          </a:p>
          <a:p>
            <a:endParaRPr lang="en-US" sz="1300" dirty="0">
              <a:latin typeface="Menlo" panose="020B0609030804020204" pitchFamily="49" charset="0"/>
              <a:ea typeface="Menlo" panose="020B0609030804020204" pitchFamily="49" charset="0"/>
              <a:cs typeface="Menlo" panose="020B0609030804020204" pitchFamily="49" charset="0"/>
            </a:endParaRPr>
          </a:p>
          <a:p>
            <a:endParaRPr lang="en-US" sz="1300" dirty="0">
              <a:latin typeface="Menlo" panose="020B0609030804020204" pitchFamily="49" charset="0"/>
              <a:ea typeface="Menlo" panose="020B0609030804020204" pitchFamily="49" charset="0"/>
              <a:cs typeface="Menlo" panose="020B0609030804020204" pitchFamily="49" charset="0"/>
            </a:endParaRPr>
          </a:p>
          <a:p>
            <a:r>
              <a:rPr lang="en-US" sz="1300" dirty="0">
                <a:latin typeface="Menlo" panose="020B0609030804020204" pitchFamily="49" charset="0"/>
                <a:ea typeface="Menlo" panose="020B0609030804020204" pitchFamily="49" charset="0"/>
                <a:cs typeface="Menlo" panose="020B0609030804020204" pitchFamily="49" charset="0"/>
              </a:rPr>
              <a:t>RESULT:</a:t>
            </a:r>
          </a:p>
          <a:p>
            <a:r>
              <a:rPr lang="en-US" sz="1300" dirty="0">
                <a:latin typeface="Menlo" panose="020B0609030804020204" pitchFamily="49" charset="0"/>
                <a:ea typeface="Menlo" panose="020B0609030804020204" pitchFamily="49" charset="0"/>
                <a:cs typeface="Menlo" panose="020B0609030804020204" pitchFamily="49" charset="0"/>
              </a:rPr>
              <a:t> 169 Aquatic foods</a:t>
            </a:r>
          </a:p>
          <a:p>
            <a:r>
              <a:rPr lang="en-US" sz="1300" dirty="0">
                <a:latin typeface="Menlo" panose="020B0609030804020204" pitchFamily="49" charset="0"/>
                <a:ea typeface="Menlo" panose="020B0609030804020204" pitchFamily="49" charset="0"/>
                <a:cs typeface="Menlo" panose="020B0609030804020204" pitchFamily="49" charset="0"/>
              </a:rPr>
              <a:t> 157 Fruits</a:t>
            </a:r>
          </a:p>
          <a:p>
            <a:r>
              <a:rPr lang="en-US" sz="1300" dirty="0">
                <a:latin typeface="Menlo" panose="020B0609030804020204" pitchFamily="49" charset="0"/>
                <a:ea typeface="Menlo" panose="020B0609030804020204" pitchFamily="49" charset="0"/>
                <a:cs typeface="Menlo" panose="020B0609030804020204" pitchFamily="49" charset="0"/>
              </a:rPr>
              <a:t> 147 Vegetables</a:t>
            </a:r>
          </a:p>
          <a:p>
            <a:r>
              <a:rPr lang="en-US" sz="1300" dirty="0">
                <a:latin typeface="Menlo" panose="020B0609030804020204" pitchFamily="49" charset="0"/>
                <a:ea typeface="Menlo" panose="020B0609030804020204" pitchFamily="49" charset="0"/>
                <a:cs typeface="Menlo" panose="020B0609030804020204" pitchFamily="49" charset="0"/>
              </a:rPr>
              <a:t> 126 Herbs and Spices</a:t>
            </a:r>
          </a:p>
          <a:p>
            <a:r>
              <a:rPr lang="en-US" sz="1300" dirty="0">
                <a:latin typeface="Menlo" panose="020B0609030804020204" pitchFamily="49" charset="0"/>
                <a:ea typeface="Menlo" panose="020B0609030804020204" pitchFamily="49" charset="0"/>
                <a:cs typeface="Menlo" panose="020B0609030804020204" pitchFamily="49" charset="0"/>
              </a:rPr>
              <a:t>  51 Dishes</a:t>
            </a:r>
          </a:p>
        </p:txBody>
      </p:sp>
    </p:spTree>
    <p:extLst>
      <p:ext uri="{BB962C8B-B14F-4D97-AF65-F5344CB8AC3E}">
        <p14:creationId xmlns:p14="http://schemas.microsoft.com/office/powerpoint/2010/main" val="1731498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78B1F-9828-4686-A4ED-6600CB6C759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9A0276C-6965-F9CE-72F5-4198B741D473}"/>
              </a:ext>
            </a:extLst>
          </p:cNvPr>
          <p:cNvSpPr/>
          <p:nvPr/>
        </p:nvSpPr>
        <p:spPr>
          <a:xfrm>
            <a:off x="419126" y="1068783"/>
            <a:ext cx="11353747" cy="2677656"/>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EXERCISE 3.2:</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Ask a Gen AI tool to write python code to solve Exercise 3.1.</a:t>
            </a:r>
          </a:p>
          <a:p>
            <a:pPr marL="457200" indent="-457200">
              <a:buFont typeface="Arial" panose="020B0604020202020204" pitchFamily="34" charset="0"/>
              <a:buChar char="•"/>
            </a:pPr>
            <a:r>
              <a:rPr lang="en-US" sz="2400" b="1" dirty="0">
                <a:latin typeface="Arial" panose="020B0604020202020204" pitchFamily="34" charset="0"/>
                <a:cs typeface="Arial" panose="020B0604020202020204" pitchFamily="34" charset="0"/>
              </a:rPr>
              <a:t>Is it simpler to write python code for this exercise than solving the exercise in bash?</a:t>
            </a:r>
          </a:p>
          <a:p>
            <a:r>
              <a:rPr lang="en-US" sz="2400" dirty="0">
                <a:latin typeface="Arial" panose="020B0604020202020204" pitchFamily="34" charset="0"/>
                <a:cs typeface="Arial" panose="020B0604020202020204" pitchFamily="34" charset="0"/>
              </a:rPr>
              <a:t>Note: The compound name may contain commas and in that case is quoted - that affects the split by comma but should not affect the results in this case</a:t>
            </a:r>
          </a:p>
          <a:p>
            <a:r>
              <a:rPr lang="en-US" sz="2400" b="1" dirty="0">
                <a:ea typeface="Arial" charset="0"/>
                <a:cs typeface="Arial" charset="0"/>
              </a:rPr>
              <a: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1663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DBC66-68AA-58CC-D1C4-12C8DA0DECC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70A3F9-6FA2-B806-B63F-F201F6C9E734}"/>
              </a:ext>
            </a:extLst>
          </p:cNvPr>
          <p:cNvPicPr>
            <a:picLocks noChangeAspect="1"/>
          </p:cNvPicPr>
          <p:nvPr/>
        </p:nvPicPr>
        <p:blipFill>
          <a:blip r:embed="rId2"/>
          <a:stretch>
            <a:fillRect/>
          </a:stretch>
        </p:blipFill>
        <p:spPr>
          <a:xfrm>
            <a:off x="5399580" y="23751"/>
            <a:ext cx="6594231" cy="6858000"/>
          </a:xfrm>
          <a:prstGeom prst="rect">
            <a:avLst/>
          </a:prstGeom>
          <a:ln>
            <a:solidFill>
              <a:schemeClr val="tx1"/>
            </a:solidFill>
          </a:ln>
        </p:spPr>
      </p:pic>
      <p:sp>
        <p:nvSpPr>
          <p:cNvPr id="2" name="TextBox 1">
            <a:extLst>
              <a:ext uri="{FF2B5EF4-FFF2-40B4-BE49-F238E27FC236}">
                <a16:creationId xmlns:a16="http://schemas.microsoft.com/office/drawing/2014/main" id="{3A4EA5C0-0651-B61A-A3B1-B908628D6E08}"/>
              </a:ext>
            </a:extLst>
          </p:cNvPr>
          <p:cNvSpPr txBox="1"/>
          <p:nvPr/>
        </p:nvSpPr>
        <p:spPr>
          <a:xfrm>
            <a:off x="102919" y="1120676"/>
            <a:ext cx="5193475" cy="4247317"/>
          </a:xfrm>
          <a:prstGeom prst="rect">
            <a:avLst/>
          </a:prstGeom>
          <a:noFill/>
          <a:ln>
            <a:solidFill>
              <a:schemeClr val="tx1"/>
            </a:solidFill>
          </a:ln>
        </p:spPr>
        <p:txBody>
          <a:bodyPr wrap="square" rtlCol="0">
            <a:spAutoFit/>
          </a:bodyPr>
          <a:lstStyle/>
          <a:p>
            <a:r>
              <a:rPr lang="en-US" dirty="0"/>
              <a:t>If you ask Gen AI it will provide good code that makes use of relevant libraries for loading .csv files and processing matrix data. It then does a summary of unique values (.</a:t>
            </a:r>
            <a:r>
              <a:rPr lang="en-US" dirty="0" err="1"/>
              <a:t>value_counts</a:t>
            </a:r>
            <a:r>
              <a:rPr lang="en-US" dirty="0"/>
              <a:t>()) and takes only the top 5 (head).</a:t>
            </a:r>
          </a:p>
          <a:p>
            <a:r>
              <a:rPr lang="en-US" dirty="0"/>
              <a:t>It then goes through those values and displays them.</a:t>
            </a:r>
          </a:p>
          <a:p>
            <a:r>
              <a:rPr lang="en-US" dirty="0"/>
              <a:t>The for loop is not really needed, printing top5 it will still do a good job of displaying the results.</a:t>
            </a:r>
          </a:p>
          <a:p>
            <a:endParaRPr lang="en-US" dirty="0"/>
          </a:p>
          <a:p>
            <a:r>
              <a:rPr lang="en-US" dirty="0"/>
              <a:t>Python handles the quotes much better and recognizes when a separator (the comma, “,”, in this case is part of the text in a column rather than being the column separator, which bash does not do.</a:t>
            </a:r>
          </a:p>
          <a:p>
            <a:r>
              <a:rPr lang="en-US" dirty="0"/>
              <a:t>In two simple lines of code python does what the complex series of commands in bash do.</a:t>
            </a:r>
          </a:p>
        </p:txBody>
      </p:sp>
    </p:spTree>
    <p:extLst>
      <p:ext uri="{BB962C8B-B14F-4D97-AF65-F5344CB8AC3E}">
        <p14:creationId xmlns:p14="http://schemas.microsoft.com/office/powerpoint/2010/main" val="2089996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EAFC2-F522-ADE7-2543-66C9E15001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0CAF4D-0FF5-D429-B598-A28205C07559}"/>
              </a:ext>
            </a:extLst>
          </p:cNvPr>
          <p:cNvSpPr txBox="1"/>
          <p:nvPr/>
        </p:nvSpPr>
        <p:spPr>
          <a:xfrm>
            <a:off x="2446317" y="2284141"/>
            <a:ext cx="6246420" cy="3493264"/>
          </a:xfrm>
          <a:prstGeom prst="rect">
            <a:avLst/>
          </a:prstGeom>
          <a:noFill/>
          <a:ln w="38100">
            <a:solidFill>
              <a:schemeClr val="accent2"/>
            </a:solidFill>
          </a:ln>
        </p:spPr>
        <p:txBody>
          <a:bodyPr wrap="square">
            <a:spAutoFit/>
          </a:bodyPr>
          <a:lstStyle/>
          <a:p>
            <a:r>
              <a:rPr lang="en-US" sz="1700" dirty="0">
                <a:latin typeface="Menlo" panose="020B0609030804020204" pitchFamily="49" charset="0"/>
                <a:ea typeface="Menlo" panose="020B0609030804020204" pitchFamily="49" charset="0"/>
                <a:cs typeface="Menlo" panose="020B0609030804020204" pitchFamily="49" charset="0"/>
              </a:rPr>
              <a:t>import pandas as pd</a:t>
            </a:r>
          </a:p>
          <a:p>
            <a:endParaRPr lang="en-US" sz="1700" dirty="0">
              <a:latin typeface="Menlo" panose="020B0609030804020204" pitchFamily="49" charset="0"/>
              <a:ea typeface="Menlo" panose="020B0609030804020204" pitchFamily="49" charset="0"/>
              <a:cs typeface="Menlo" panose="020B0609030804020204" pitchFamily="49" charset="0"/>
            </a:endParaRPr>
          </a:p>
          <a:p>
            <a:r>
              <a:rPr lang="en-US" sz="1700" dirty="0">
                <a:latin typeface="Menlo" panose="020B0609030804020204" pitchFamily="49" charset="0"/>
                <a:ea typeface="Menlo" panose="020B0609030804020204" pitchFamily="49" charset="0"/>
                <a:cs typeface="Menlo" panose="020B0609030804020204" pitchFamily="49" charset="0"/>
              </a:rPr>
              <a:t># Load the CSV file</a:t>
            </a:r>
          </a:p>
          <a:p>
            <a:r>
              <a:rPr lang="en-US" sz="1700" dirty="0" err="1">
                <a:latin typeface="Menlo" panose="020B0609030804020204" pitchFamily="49" charset="0"/>
                <a:ea typeface="Menlo" panose="020B0609030804020204" pitchFamily="49" charset="0"/>
                <a:cs typeface="Menlo" panose="020B0609030804020204" pitchFamily="49" charset="0"/>
              </a:rPr>
              <a:t>df</a:t>
            </a:r>
            <a:r>
              <a:rPr lang="en-US" sz="1700" dirty="0">
                <a:latin typeface="Menlo" panose="020B0609030804020204" pitchFamily="49" charset="0"/>
                <a:ea typeface="Menlo" panose="020B0609030804020204" pitchFamily="49" charset="0"/>
                <a:cs typeface="Menlo" panose="020B0609030804020204" pitchFamily="49" charset="0"/>
              </a:rPr>
              <a:t> = </a:t>
            </a:r>
            <a:r>
              <a:rPr lang="en-US" sz="1700" dirty="0" err="1">
                <a:latin typeface="Menlo" panose="020B0609030804020204" pitchFamily="49" charset="0"/>
                <a:ea typeface="Menlo" panose="020B0609030804020204" pitchFamily="49" charset="0"/>
                <a:cs typeface="Menlo" panose="020B0609030804020204" pitchFamily="49" charset="0"/>
              </a:rPr>
              <a:t>pd.read_csv</a:t>
            </a:r>
            <a:r>
              <a:rPr lang="en-US" sz="1700" dirty="0">
                <a:latin typeface="Menlo" panose="020B0609030804020204" pitchFamily="49" charset="0"/>
                <a:ea typeface="Menlo" panose="020B0609030804020204" pitchFamily="49" charset="0"/>
                <a:cs typeface="Menlo" panose="020B0609030804020204" pitchFamily="49" charset="0"/>
              </a:rPr>
              <a:t>('</a:t>
            </a:r>
            <a:r>
              <a:rPr lang="en-US" sz="1700" dirty="0" err="1">
                <a:latin typeface="Menlo" panose="020B0609030804020204" pitchFamily="49" charset="0"/>
                <a:ea typeface="Menlo" panose="020B0609030804020204" pitchFamily="49" charset="0"/>
                <a:cs typeface="Menlo" panose="020B0609030804020204" pitchFamily="49" charset="0"/>
              </a:rPr>
              <a:t>Food.csv</a:t>
            </a:r>
            <a:r>
              <a:rPr lang="en-US" sz="1700" dirty="0">
                <a:latin typeface="Menlo" panose="020B0609030804020204" pitchFamily="49" charset="0"/>
                <a:ea typeface="Menlo" panose="020B0609030804020204" pitchFamily="49" charset="0"/>
                <a:cs typeface="Menlo" panose="020B0609030804020204" pitchFamily="49" charset="0"/>
              </a:rPr>
              <a:t>')</a:t>
            </a:r>
          </a:p>
          <a:p>
            <a:endParaRPr lang="en-US" sz="1700" dirty="0">
              <a:latin typeface="Menlo" panose="020B0609030804020204" pitchFamily="49" charset="0"/>
              <a:ea typeface="Menlo" panose="020B0609030804020204" pitchFamily="49" charset="0"/>
              <a:cs typeface="Menlo" panose="020B0609030804020204" pitchFamily="49" charset="0"/>
            </a:endParaRPr>
          </a:p>
          <a:p>
            <a:r>
              <a:rPr lang="en-US" sz="1700" dirty="0">
                <a:latin typeface="Menlo" panose="020B0609030804020204" pitchFamily="49" charset="0"/>
                <a:ea typeface="Menlo" panose="020B0609030804020204" pitchFamily="49" charset="0"/>
                <a:cs typeface="Menlo" panose="020B0609030804020204" pitchFamily="49" charset="0"/>
              </a:rPr>
              <a:t># Count occurrences of each food group</a:t>
            </a:r>
          </a:p>
          <a:p>
            <a:r>
              <a:rPr lang="en-US" sz="1700" dirty="0">
                <a:latin typeface="Menlo" panose="020B0609030804020204" pitchFamily="49" charset="0"/>
                <a:ea typeface="Menlo" panose="020B0609030804020204" pitchFamily="49" charset="0"/>
                <a:cs typeface="Menlo" panose="020B0609030804020204" pitchFamily="49" charset="0"/>
              </a:rPr>
              <a:t>top5 = </a:t>
            </a:r>
            <a:r>
              <a:rPr lang="en-US" sz="1700" dirty="0" err="1">
                <a:latin typeface="Menlo" panose="020B0609030804020204" pitchFamily="49" charset="0"/>
                <a:ea typeface="Menlo" panose="020B0609030804020204" pitchFamily="49" charset="0"/>
                <a:cs typeface="Menlo" panose="020B0609030804020204" pitchFamily="49" charset="0"/>
              </a:rPr>
              <a:t>df</a:t>
            </a:r>
            <a:r>
              <a:rPr lang="en-US" sz="1700" dirty="0">
                <a:latin typeface="Menlo" panose="020B0609030804020204" pitchFamily="49" charset="0"/>
                <a:ea typeface="Menlo" panose="020B0609030804020204" pitchFamily="49" charset="0"/>
                <a:cs typeface="Menlo" panose="020B0609030804020204" pitchFamily="49" charset="0"/>
              </a:rPr>
              <a:t>['</a:t>
            </a:r>
            <a:r>
              <a:rPr lang="en-US" sz="1700" dirty="0" err="1">
                <a:latin typeface="Menlo" panose="020B0609030804020204" pitchFamily="49" charset="0"/>
                <a:ea typeface="Menlo" panose="020B0609030804020204" pitchFamily="49" charset="0"/>
                <a:cs typeface="Menlo" panose="020B0609030804020204" pitchFamily="49" charset="0"/>
              </a:rPr>
              <a:t>food_group</a:t>
            </a:r>
            <a:r>
              <a:rPr lang="en-US" sz="1700" dirty="0">
                <a:latin typeface="Menlo" panose="020B0609030804020204" pitchFamily="49" charset="0"/>
                <a:ea typeface="Menlo" panose="020B0609030804020204" pitchFamily="49" charset="0"/>
                <a:cs typeface="Menlo" panose="020B0609030804020204" pitchFamily="49" charset="0"/>
              </a:rPr>
              <a:t>'].</a:t>
            </a:r>
            <a:r>
              <a:rPr lang="en-US" sz="1700" dirty="0" err="1">
                <a:latin typeface="Menlo" panose="020B0609030804020204" pitchFamily="49" charset="0"/>
                <a:ea typeface="Menlo" panose="020B0609030804020204" pitchFamily="49" charset="0"/>
                <a:cs typeface="Menlo" panose="020B0609030804020204" pitchFamily="49" charset="0"/>
              </a:rPr>
              <a:t>value_counts</a:t>
            </a:r>
            <a:r>
              <a:rPr lang="en-US" sz="1700" dirty="0">
                <a:latin typeface="Menlo" panose="020B0609030804020204" pitchFamily="49" charset="0"/>
                <a:ea typeface="Menlo" panose="020B0609030804020204" pitchFamily="49" charset="0"/>
                <a:cs typeface="Menlo" panose="020B0609030804020204" pitchFamily="49" charset="0"/>
              </a:rPr>
              <a:t>().head(5)</a:t>
            </a:r>
          </a:p>
          <a:p>
            <a:endParaRPr lang="en-US" sz="1700" dirty="0">
              <a:latin typeface="Menlo" panose="020B0609030804020204" pitchFamily="49" charset="0"/>
              <a:ea typeface="Menlo" panose="020B0609030804020204" pitchFamily="49" charset="0"/>
              <a:cs typeface="Menlo" panose="020B0609030804020204" pitchFamily="49" charset="0"/>
            </a:endParaRPr>
          </a:p>
          <a:p>
            <a:r>
              <a:rPr lang="en-US" sz="1700" dirty="0">
                <a:latin typeface="Menlo" panose="020B0609030804020204" pitchFamily="49" charset="0"/>
                <a:ea typeface="Menlo" panose="020B0609030804020204" pitchFamily="49" charset="0"/>
                <a:cs typeface="Menlo" panose="020B0609030804020204" pitchFamily="49" charset="0"/>
              </a:rPr>
              <a:t># Print header</a:t>
            </a:r>
          </a:p>
          <a:p>
            <a:r>
              <a:rPr lang="en-US" sz="1700" dirty="0">
                <a:latin typeface="Menlo" panose="020B0609030804020204" pitchFamily="49" charset="0"/>
                <a:ea typeface="Menlo" panose="020B0609030804020204" pitchFamily="49" charset="0"/>
                <a:cs typeface="Menlo" panose="020B0609030804020204" pitchFamily="49" charset="0"/>
              </a:rPr>
              <a:t>print("count, food group name")</a:t>
            </a:r>
          </a:p>
          <a:p>
            <a:r>
              <a:rPr lang="en-US" sz="1700" dirty="0">
                <a:latin typeface="Menlo" panose="020B0609030804020204" pitchFamily="49" charset="0"/>
                <a:ea typeface="Menlo" panose="020B0609030804020204" pitchFamily="49" charset="0"/>
                <a:cs typeface="Menlo" panose="020B0609030804020204" pitchFamily="49" charset="0"/>
              </a:rPr>
              <a:t># Print each food group and its count</a:t>
            </a:r>
          </a:p>
          <a:p>
            <a:r>
              <a:rPr lang="en-US" sz="1700" dirty="0">
                <a:latin typeface="Menlo" panose="020B0609030804020204" pitchFamily="49" charset="0"/>
                <a:ea typeface="Menlo" panose="020B0609030804020204" pitchFamily="49" charset="0"/>
                <a:cs typeface="Menlo" panose="020B0609030804020204" pitchFamily="49" charset="0"/>
              </a:rPr>
              <a:t>for </a:t>
            </a:r>
            <a:r>
              <a:rPr lang="en-US" sz="1700" dirty="0" err="1">
                <a:latin typeface="Menlo" panose="020B0609030804020204" pitchFamily="49" charset="0"/>
                <a:ea typeface="Menlo" panose="020B0609030804020204" pitchFamily="49" charset="0"/>
                <a:cs typeface="Menlo" panose="020B0609030804020204" pitchFamily="49" charset="0"/>
              </a:rPr>
              <a:t>food_group</a:t>
            </a:r>
            <a:r>
              <a:rPr lang="en-US" sz="1700" dirty="0">
                <a:latin typeface="Menlo" panose="020B0609030804020204" pitchFamily="49" charset="0"/>
                <a:ea typeface="Menlo" panose="020B0609030804020204" pitchFamily="49" charset="0"/>
                <a:cs typeface="Menlo" panose="020B0609030804020204" pitchFamily="49" charset="0"/>
              </a:rPr>
              <a:t>, count in top5.items():</a:t>
            </a:r>
          </a:p>
          <a:p>
            <a:r>
              <a:rPr lang="en-US" sz="1700" dirty="0">
                <a:latin typeface="Menlo" panose="020B0609030804020204" pitchFamily="49" charset="0"/>
                <a:ea typeface="Menlo" panose="020B0609030804020204" pitchFamily="49" charset="0"/>
                <a:cs typeface="Menlo" panose="020B0609030804020204" pitchFamily="49" charset="0"/>
              </a:rPr>
              <a:t>    print(f"{count}, {</a:t>
            </a:r>
            <a:r>
              <a:rPr lang="en-US" sz="1700" dirty="0" err="1">
                <a:latin typeface="Menlo" panose="020B0609030804020204" pitchFamily="49" charset="0"/>
                <a:ea typeface="Menlo" panose="020B0609030804020204" pitchFamily="49" charset="0"/>
                <a:cs typeface="Menlo" panose="020B0609030804020204" pitchFamily="49" charset="0"/>
              </a:rPr>
              <a:t>food_group</a:t>
            </a:r>
            <a:r>
              <a:rPr lang="en-US" sz="1700" dirty="0">
                <a:latin typeface="Menlo" panose="020B0609030804020204" pitchFamily="49" charset="0"/>
                <a:ea typeface="Menlo" panose="020B0609030804020204" pitchFamily="49" charset="0"/>
                <a:cs typeface="Menlo" panose="020B0609030804020204" pitchFamily="49" charset="0"/>
              </a:rPr>
              <a:t>}")</a:t>
            </a:r>
          </a:p>
        </p:txBody>
      </p:sp>
      <p:sp>
        <p:nvSpPr>
          <p:cNvPr id="6" name="TextBox 5">
            <a:extLst>
              <a:ext uri="{FF2B5EF4-FFF2-40B4-BE49-F238E27FC236}">
                <a16:creationId xmlns:a16="http://schemas.microsoft.com/office/drawing/2014/main" id="{58EF0531-E8EF-7E7E-AE12-F6D8650E3E2C}"/>
              </a:ext>
            </a:extLst>
          </p:cNvPr>
          <p:cNvSpPr txBox="1"/>
          <p:nvPr/>
        </p:nvSpPr>
        <p:spPr>
          <a:xfrm>
            <a:off x="463137" y="190005"/>
            <a:ext cx="7986225" cy="1477328"/>
          </a:xfrm>
          <a:prstGeom prst="rect">
            <a:avLst/>
          </a:prstGeom>
          <a:noFill/>
        </p:spPr>
        <p:txBody>
          <a:bodyPr wrap="none" rtlCol="0">
            <a:spAutoFit/>
          </a:bodyPr>
          <a:lstStyle/>
          <a:p>
            <a:pPr marL="285750" indent="-285750">
              <a:buFont typeface="Arial" panose="020B0604020202020204" pitchFamily="34" charset="0"/>
              <a:buChar char="•"/>
            </a:pPr>
            <a:r>
              <a:rPr lang="en-US" b="1" dirty="0"/>
              <a:t>Write this code in a </a:t>
            </a:r>
            <a:r>
              <a:rPr lang="en-US" b="1" dirty="0" err="1">
                <a:solidFill>
                  <a:schemeClr val="accent2"/>
                </a:solidFill>
              </a:rPr>
              <a:t>top_food_groups.py</a:t>
            </a:r>
            <a:r>
              <a:rPr lang="en-US" b="1" dirty="0">
                <a:solidFill>
                  <a:schemeClr val="accent2"/>
                </a:solidFill>
              </a:rPr>
              <a:t> </a:t>
            </a:r>
            <a:r>
              <a:rPr lang="en-US" b="1" dirty="0"/>
              <a:t>file</a:t>
            </a:r>
          </a:p>
          <a:p>
            <a:pPr marL="285750" indent="-285750">
              <a:buFont typeface="Arial" panose="020B0604020202020204" pitchFamily="34" charset="0"/>
              <a:buChar char="•"/>
            </a:pPr>
            <a:r>
              <a:rPr lang="en-US" b="1" dirty="0"/>
              <a:t>Run the file using </a:t>
            </a:r>
            <a:r>
              <a:rPr lang="en-US" sz="1600" dirty="0">
                <a:latin typeface="Menlo" panose="020B0609030804020204" pitchFamily="49" charset="0"/>
                <a:ea typeface="Menlo" panose="020B0609030804020204" pitchFamily="49" charset="0"/>
                <a:cs typeface="Menlo" panose="020B0609030804020204" pitchFamily="49" charset="0"/>
              </a:rPr>
              <a:t>python </a:t>
            </a:r>
            <a:r>
              <a:rPr lang="en-US" sz="1600" dirty="0" err="1">
                <a:latin typeface="Menlo" panose="020B0609030804020204" pitchFamily="49" charset="0"/>
                <a:ea typeface="Menlo" panose="020B0609030804020204" pitchFamily="49" charset="0"/>
                <a:cs typeface="Menlo" panose="020B0609030804020204" pitchFamily="49" charset="0"/>
              </a:rPr>
              <a:t>top_food_groups.py</a:t>
            </a:r>
            <a:endParaRPr lang="en-US" dirty="0">
              <a:latin typeface="Menlo" panose="020B0609030804020204" pitchFamily="49" charset="0"/>
              <a:ea typeface="Menlo" panose="020B0609030804020204" pitchFamily="49" charset="0"/>
              <a:cs typeface="Menlo" panose="020B0609030804020204" pitchFamily="49" charset="0"/>
            </a:endParaRP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You can also write the code in a code cell in python notebook and run the code</a:t>
            </a:r>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697753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6DB7CA8-3C7F-BF43-8592-840A5DBA757B}"/>
              </a:ext>
            </a:extLst>
          </p:cNvPr>
          <p:cNvSpPr/>
          <p:nvPr/>
        </p:nvSpPr>
        <p:spPr>
          <a:xfrm>
            <a:off x="419126" y="2028903"/>
            <a:ext cx="11353747" cy="3539430"/>
          </a:xfrm>
          <a:prstGeom prst="rect">
            <a:avLst/>
          </a:prstGeom>
        </p:spPr>
        <p:txBody>
          <a:bodyPr wrap="square">
            <a:spAutoFit/>
          </a:bodyPr>
          <a:lstStyle/>
          <a:p>
            <a:pPr marL="457200" indent="-457200">
              <a:buFont typeface="Arial" panose="020B0604020202020204" pitchFamily="34" charset="0"/>
              <a:buChar char="•"/>
            </a:pPr>
            <a:r>
              <a:rPr lang="en-US" sz="2800" b="1" dirty="0">
                <a:latin typeface="Arial" panose="020B0604020202020204" pitchFamily="34" charset="0"/>
                <a:ea typeface="Arial" charset="0"/>
                <a:cs typeface="Arial" panose="020B0604020202020204" pitchFamily="34" charset="0"/>
              </a:rPr>
              <a:t>Resources: </a:t>
            </a: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2"/>
              </a:rPr>
              <a:t>https://www.unf.edu/~broggio/cop2221/2221pseu.htm</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3"/>
              </a:rPr>
              <a:t>https://users.csc.calpoly.edu/~jdalbey/SWE/pdl_std.html</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4"/>
              </a:rPr>
              <a:t>https://git-scm.com/docs/gittutorial</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5"/>
              </a:rPr>
              <a:t>https://try.github.io</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6"/>
              </a:rPr>
              <a:t>https://www.tutorialspoint.com/git/index.htm</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r>
              <a:rPr lang="en-US" sz="2400" dirty="0">
                <a:latin typeface="Arial" panose="020B0604020202020204" pitchFamily="34" charset="0"/>
                <a:ea typeface="Arial" charset="0"/>
                <a:cs typeface="Arial" panose="020B0604020202020204" pitchFamily="34" charset="0"/>
                <a:hlinkClick r:id="rId7"/>
              </a:rPr>
              <a:t>https://www.atlassian.com/git/tutorials/using-branches/merge-conflicts</a:t>
            </a: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endParaRPr lang="en-US" sz="2400" dirty="0">
              <a:latin typeface="Arial" panose="020B0604020202020204" pitchFamily="34" charset="0"/>
              <a:ea typeface="Arial" charset="0"/>
              <a:cs typeface="Arial" panose="020B0604020202020204" pitchFamily="34" charset="0"/>
            </a:endParaRPr>
          </a:p>
          <a:p>
            <a:pPr marL="457200" indent="-457200">
              <a:buFont typeface="Arial" panose="020B0604020202020204" pitchFamily="34" charset="0"/>
              <a:buChar char="•"/>
            </a:pPr>
            <a:endParaRPr lang="en-US" sz="2800" dirty="0">
              <a:latin typeface="Arial" panose="020B0604020202020204" pitchFamily="34" charset="0"/>
              <a:ea typeface="Arial" charset="0"/>
              <a:cs typeface="Arial" panose="020B0604020202020204" pitchFamily="34" charset="0"/>
            </a:endParaRPr>
          </a:p>
        </p:txBody>
      </p:sp>
    </p:spTree>
    <p:extLst>
      <p:ext uri="{BB962C8B-B14F-4D97-AF65-F5344CB8AC3E}">
        <p14:creationId xmlns:p14="http://schemas.microsoft.com/office/powerpoint/2010/main" val="2339153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7458</TotalTime>
  <Words>2710</Words>
  <Application>Microsoft Macintosh PowerPoint</Application>
  <PresentationFormat>Widescreen</PresentationFormat>
  <Paragraphs>284</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Mitrea, Cristina</dc:creator>
  <cp:lastModifiedBy>Mitrea, Cristina</cp:lastModifiedBy>
  <cp:revision>80</cp:revision>
  <dcterms:created xsi:type="dcterms:W3CDTF">2020-09-10T12:48:40Z</dcterms:created>
  <dcterms:modified xsi:type="dcterms:W3CDTF">2025-09-19T13:43:05Z</dcterms:modified>
</cp:coreProperties>
</file>